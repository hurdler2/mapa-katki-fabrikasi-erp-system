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eğitim form listesini ezberletmez. Bir işlemin hangi kayıt, rol, karar ve kontrol kapılarıyla güvenli biçimde ilerlediğini öğretir.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MAPA-IMS-GDE-FRM-001 R0</a:t>
            </a:r>
          </a:p>
          <a:p>
            <a:r>
              <a:t>- Internal controlled source: MAPA-IMS-PLN-DEP-001 R0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Katılımcıya önce bu sekiz halkayı ezberlet. Her örnekte halkanın nerede koptuğunu sor.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MAPA-IMS-GDE-FRM-001 R0</a:t>
            </a:r>
          </a:p>
          <a:p>
            <a:r>
              <a:t>- Internal controlled source: MAPA-IMS-PLN-SIM-001 R0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Özellikle 'form var, demek ki sistem hazır' yanılgısını kır. Katılımcı her katmanın farklı kabul kriteri olduğunu söyleyebilmelidir.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MAPA-IMS-GDE-FRM-001 R0</a:t>
            </a:r>
          </a:p>
          <a:p>
            <a:r>
              <a:t>- Internal controlled source: MAPA-IMS-PLN-DEP-001 R0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Üç kapıyı karıştırmak yetki aşımına yol açar. G-SIM eğitim koşulunu, O-G işlem statüsünü, P010 kurumsal readiness'i yönetir.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MAPA-IMS-PLN-SIM-001 R0</a:t>
            </a:r>
          </a:p>
          <a:p>
            <a:r>
              <a:t>- Internal controlled source: MAPA-IMS-PLN-DEP-001 R0</a:t>
            </a:r>
          </a:p>
          <a:p>
            <a:r>
              <a:t>- Internal controlled source: P010 readiness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R/V/A ayrımını her form için tekrar ettir. 'Kim imzalıyor?' yerine 'Hangi karar yetkisiyle imzalıyor?' sorusunu kullan.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MAPA-IMS-FRM-MST-001 R17</a:t>
            </a:r>
          </a:p>
          <a:p>
            <a:r>
              <a:t>- Internal controlled source: MAPA-HR-FRM-CMP-SET-001 R0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beş kısayol simülasyonda özellikle test edilecek. Kullanıcı doğru formu doldursa bile yetkisiz karar verirse scenario FAIL sayılır.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MAPA-IMS-FRM-MST-001 R17</a:t>
            </a:r>
          </a:p>
          <a:p>
            <a:r>
              <a:t>- Internal controlled source: MAPA-IMS-PLN-SIM-001 R0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HOLD durumunu başarısızlık gibi sunma. Kontrollü sistem, ön koşullar tamamlanmadan başlangıcı engeller.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MAPA-IMS-PLN-SIM-001 R0</a:t>
            </a:r>
          </a:p>
          <a:p>
            <a:r>
              <a:t>- Internal controlled source: MAPA-IMS-FRM-SIM-SET-001 R0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slayt eğitim boyunca ana harita olarak tekrar kullanılacak. Her detay slaytında ilgili O-G kapısını işaretle.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MAPA-IMS-GDE-FRM-001 R1 draft</a:t>
            </a:r>
          </a:p>
          <a:p>
            <a:r>
              <a:t>- Internal controlled source: MAPA-IMS-FRM-MST-001 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Her ticari kaydın ayrı bir IMS form kodu olmak zorunda değildir. RFQ/PO kaynak kaydıdır; IMS kontrolü, onaylı süreç ve checklist/matrix ile kurulur.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MAPA-IMS-FRM-MST-001 R17</a:t>
            </a:r>
          </a:p>
          <a:p>
            <a:r>
              <a:t>- Internal controlled source: MAPA-SCM-PRO-SUP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slaytta fiziksel kabul, teknik doğrulama ve statü kararını üç ayrı adım olarak göster.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MAPA-WHS-FRM-001</a:t>
            </a:r>
          </a:p>
          <a:p>
            <a:r>
              <a:t>- Internal controlled source: MAPA-QC-FRM-SMP-001</a:t>
            </a:r>
          </a:p>
          <a:p>
            <a:r>
              <a:t>- Internal controlled source: MAPA-QA-FRM-REL-005</a:t>
            </a:r>
          </a:p>
          <a:p>
            <a:r>
              <a:t>- Internal controlled source: MAPA-QA-FRM-REL-002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Depo issue kaydı ile BMR aynı lotu göstermelidir. Bu bağlantı olmadan uygun QC sonucu bile batch genealogy'sini kurtaramaz.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MAPA-WHS-FRM-003</a:t>
            </a:r>
          </a:p>
          <a:p>
            <a:r>
              <a:t>- Internal controlled source: MAPA-WHS-FRM-004</a:t>
            </a:r>
          </a:p>
          <a:p>
            <a:r>
              <a:t>- Internal controlled source: MAPA-PRD-FRM-CLR-001</a:t>
            </a:r>
          </a:p>
          <a:p>
            <a:r>
              <a:t>- Internal controlled source: MAPA-PRD-FRM-BMR-001</a:t>
            </a:r>
          </a:p>
          <a:p>
            <a:r>
              <a:t>- Internal controlled source: MAPA-PRD-FRM-IPC-001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Kullanıcının test sonucunu ürün kararı sanmasını engelle. Sonuç, dossier ve yetki birlikte değerlendirilir.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MAPA-QC-FRM-TST-001</a:t>
            </a:r>
          </a:p>
          <a:p>
            <a:r>
              <a:t>- Internal controlled source: MAPA-QC-FRM-OOS-001</a:t>
            </a:r>
          </a:p>
          <a:p>
            <a:r>
              <a:t>- Internal controlled source: MAPA-QA-CHK-BDR-001</a:t>
            </a:r>
          </a:p>
          <a:p>
            <a:r>
              <a:t>- Internal controlled source: MAPA-QA-FRM-REL-001</a:t>
            </a:r>
          </a:p>
          <a:p>
            <a:r>
              <a:t>- Internal controlled source: MAPA-QA-MST-AUT-001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Dispatch release ile evidence closure aynı gün olmak zorunda değildir; ancak açık bağlantılar görünür tutulmalıdır.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MAPA-QA-FRM-REL-006</a:t>
            </a:r>
          </a:p>
          <a:p>
            <a:r>
              <a:t>- Internal controlled source: MAPA-WHS-FRM-005</a:t>
            </a:r>
          </a:p>
          <a:p>
            <a:r>
              <a:t>- Internal controlled source: MAPA-IMS-MST-REC-001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davranış tüm adverse inject'lerin ortak başlangıcıdır. Teknik çözüm daha sonra gelir; ilk kontrol riskin yayılmasını durdurmaktır.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MAPA-IMS-FRM-NCR-001</a:t>
            </a:r>
          </a:p>
          <a:p>
            <a:r>
              <a:t>- Internal controlled source: MAPA-IMS-FRM-OOS-001</a:t>
            </a:r>
          </a:p>
          <a:p>
            <a:r>
              <a:t>- Internal controlled source: MAPA-IMS-FRM-CAPA-001</a:t>
            </a:r>
          </a:p>
          <a:p>
            <a:r>
              <a:t>- Internal controlled source: MAPA-IMS-FRM-MOC-001…006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Senaryoyu role-play yap: Depo, QC, QA ve SCM ayrı konuşsun. QA kararı verilmeden Production kullanmayı denesin; sistemin bunu engelleyip engellemediğini gözle.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MAPA-WHS-FRM-001</a:t>
            </a:r>
          </a:p>
          <a:p>
            <a:r>
              <a:t>- Internal controlled source: MAPA-QA-FRM-REL-005</a:t>
            </a:r>
          </a:p>
          <a:p>
            <a:r>
              <a:t>- Internal controlled source: MAPA-QCL-FRM-INC-001</a:t>
            </a:r>
          </a:p>
          <a:p>
            <a:r>
              <a:t>- Internal controlled source: MAPA-QA-FRM-REL-002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Form kodu tekrar kullanılır; transaction/lot/batch kimliği her olayda yenidir. Simülasyonda canlı EVD kimliği kullanılmaz.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MAPA-IMS-GDE-FRM-001 R0</a:t>
            </a:r>
          </a:p>
          <a:p>
            <a:r>
              <a:t>- Internal controlled source: MAPA-IMS-PLN-SIM-001 R0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Genealogy'yi yalnız geçmişi bulmak için değil, bir değişikliğin/uygunsuzluğun etki alanını belirlemek için kullan.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MAPA-IMS-GDE-FRM-001 R0</a:t>
            </a:r>
          </a:p>
          <a:p>
            <a:r>
              <a:t>- Internal controlled source: MAPA-IMS-FRM-SIM-SET-001 R0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Dashboard'un iş yükünü değil, sistemin karar disiplinini ölçmesini sağla.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MAPA-IMS-PLN-DEP-001 R0</a:t>
            </a:r>
          </a:p>
          <a:p>
            <a:r>
              <a:t>- Internal controlled source: MAPA-IMS-PLN-SIM-001 R0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L4'e geçiş için kullanıcı başka bir kişiye sistemi öğretmeli ve bağımsız dossier trace yapmalıdır.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MAPA-IMS-GDE-FRM-001 R1 draft</a:t>
            </a:r>
          </a:p>
          <a:p>
            <a:r>
              <a:t>- Internal controlled source: MAPA-HR-FRM-CMP-001…004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 bir ezber listesi değil; Master R17 navigation için başlangıç haritasıdır.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MAPA-IMS-FRM-MST-001 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Eğitimi burada bitirme. Katılımcıya rastgele bir form kodu ver ve owner, trigger, gate, upstream/downstream ve failure path'i anlattır.</a:t>
            </a:r>
          </a:p>
          <a:p>
            <a:endParaRPr/>
          </a:p>
          <a:p>
            <a:r>
              <a:t>[Sources]</a:t>
            </a:r>
          </a:p>
          <a:p>
            <a:r>
              <a:t>- Internal controlled source: MAPA-IMS-GDE-FRM-001 R1 draft</a:t>
            </a:r>
          </a:p>
          <a:p>
            <a:r>
              <a:t>- Internal controlled source: MAPA-IMS-PLN-SIM-001 R0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77BEB001-D45F-4A01-91E3-C211C1FA7E3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 MASTER PROJECT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F9649A87-A9AB-4F98-AD56-87C2E626231F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8572500" cy="2019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Sistemin</a:t>
            </a:r>
            <a:r>
              <a:rPr sz="4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4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nasıl</a:t>
            </a:r>
            <a:endParaRPr sz="48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çalıştığını</a:t>
            </a:r>
            <a:r>
              <a:rPr sz="4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4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yönet</a:t>
            </a:r>
            <a:endParaRPr sz="48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C2C89214-4D00-4F76-AD12-376D113B8F23}"/>
              </a:ext>
            </a:extLst>
          </p:cNvPr>
          <p:cNvSpPr>
            <a:spLocks noGrp="1"/>
          </p:cNvSpPr>
          <p:nvPr/>
        </p:nvSpPr>
        <p:spPr>
          <a:xfrm>
            <a:off x="400050" y="4210050"/>
            <a:ext cx="723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Ham madde ihtiyacından kontrollü karara, serbest bırakılmış ürüne ve denetlenebilir kanıta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395CE3E9-9CD0-4091-9636-3306BBA68217}"/>
              </a:ext>
            </a:extLst>
          </p:cNvPr>
          <p:cNvSpPr>
            <a:spLocks noGrp="1"/>
          </p:cNvSpPr>
          <p:nvPr/>
        </p:nvSpPr>
        <p:spPr>
          <a:xfrm>
            <a:off x="400050" y="60198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Yönetici &amp; Eğitmen Eğitimi | SIM-001 öncesi</a:t>
            </a:r>
          </a:p>
        </p:txBody>
      </p:sp>
    </p:spTree>
    <p:extLst>
      <p:ext uri="{BB962C8B-B14F-4D97-AF65-F5344CB8AC3E}">
        <p14:creationId xmlns:p14="http://schemas.microsoft.com/office/powerpoint/2010/main" val="790797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Dikdörtgen 28">
            <a:extLst>
              <a:ext uri="{FF2B5EF4-FFF2-40B4-BE49-F238E27FC236}">
                <a16:creationId xmlns:a16="http://schemas.microsoft.com/office/drawing/2014/main" id="{2EF5ACCB-0322-4E45-8C7F-57143CB1EAF1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C1D6B626-A0DB-4425-9F73-15A59C625820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Yönet</a:t>
            </a:r>
            <a:r>
              <a:rPr lang="tr-TR"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ilecek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şey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form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değil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karar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zinciridir</a:t>
            </a:r>
            <a:endParaRPr sz="29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B4F8C883-EB59-42F3-B468-8C716E314A63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93C6F5BD-F273-44A8-A249-25409D6A3603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2FC2C489-4CE3-4641-AE51-67F9A716940E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2476500" cy="12001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3577A57-B742-416C-8496-A992EECFFD34}"/>
              </a:ext>
            </a:extLst>
          </p:cNvPr>
          <p:cNvSpPr>
            <a:spLocks noGrp="1"/>
          </p:cNvSpPr>
          <p:nvPr/>
        </p:nvSpPr>
        <p:spPr>
          <a:xfrm>
            <a:off x="552450" y="18192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Tetikleyici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8C8F1A5A-3A17-4D28-BC18-29D986C5B884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2171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İhtiyaç / olay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90FEFE79-5A68-4928-844D-13C41C5AE57F}"/>
              </a:ext>
            </a:extLst>
          </p:cNvPr>
          <p:cNvSpPr>
            <a:spLocks noGrp="1"/>
          </p:cNvSpPr>
          <p:nvPr/>
        </p:nvSpPr>
        <p:spPr>
          <a:xfrm>
            <a:off x="3276600" y="1695450"/>
            <a:ext cx="2476500" cy="12001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B0B3243-F3AF-465B-B7EF-2A92DBF0710B}"/>
              </a:ext>
            </a:extLst>
          </p:cNvPr>
          <p:cNvSpPr>
            <a:spLocks noGrp="1"/>
          </p:cNvSpPr>
          <p:nvPr/>
        </p:nvSpPr>
        <p:spPr>
          <a:xfrm>
            <a:off x="3429000" y="18192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Kontrollü kaynak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35F3BC52-98C4-45BE-89AD-F5B26AFD518D}"/>
              </a:ext>
            </a:extLst>
          </p:cNvPr>
          <p:cNvSpPr>
            <a:spLocks noGrp="1"/>
          </p:cNvSpPr>
          <p:nvPr/>
        </p:nvSpPr>
        <p:spPr>
          <a:xfrm>
            <a:off x="3429000" y="2152650"/>
            <a:ext cx="2171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Aktif prosedür ve form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6C2E743F-B011-4435-8D5B-F0B5A9CFA916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2476500" cy="12001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058F61BC-3FB9-4717-90AF-B21F5C17D25D}"/>
              </a:ext>
            </a:extLst>
          </p:cNvPr>
          <p:cNvSpPr>
            <a:spLocks noGrp="1"/>
          </p:cNvSpPr>
          <p:nvPr/>
        </p:nvSpPr>
        <p:spPr>
          <a:xfrm>
            <a:off x="6305550" y="18192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Kayıt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5AF18A5-F046-4AB0-A47A-8A20F624DAAB}"/>
              </a:ext>
            </a:extLst>
          </p:cNvPr>
          <p:cNvSpPr>
            <a:spLocks noGrp="1"/>
          </p:cNvSpPr>
          <p:nvPr/>
        </p:nvSpPr>
        <p:spPr>
          <a:xfrm>
            <a:off x="6305550" y="2152650"/>
            <a:ext cx="2171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Atfedilebilir gerçek veri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70527AFD-B153-4929-887E-3E09A56CA47D}"/>
              </a:ext>
            </a:extLst>
          </p:cNvPr>
          <p:cNvSpPr>
            <a:spLocks noGrp="1"/>
          </p:cNvSpPr>
          <p:nvPr/>
        </p:nvSpPr>
        <p:spPr>
          <a:xfrm>
            <a:off x="9029700" y="1695450"/>
            <a:ext cx="2476500" cy="12001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3508F458-9BF3-43C4-BEC9-69E3BA6638DF}"/>
              </a:ext>
            </a:extLst>
          </p:cNvPr>
          <p:cNvSpPr>
            <a:spLocks noGrp="1"/>
          </p:cNvSpPr>
          <p:nvPr/>
        </p:nvSpPr>
        <p:spPr>
          <a:xfrm>
            <a:off x="9182100" y="18192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Doğrulama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A27D3DC5-B11F-443E-ABC6-7350947D807F}"/>
              </a:ext>
            </a:extLst>
          </p:cNvPr>
          <p:cNvSpPr>
            <a:spLocks noGrp="1"/>
          </p:cNvSpPr>
          <p:nvPr/>
        </p:nvSpPr>
        <p:spPr>
          <a:xfrm>
            <a:off x="9182100" y="2152650"/>
            <a:ext cx="2171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Şart ve hesap kontrolü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9D78C249-1916-45E0-9AC5-E812AE721528}"/>
              </a:ext>
            </a:extLst>
          </p:cNvPr>
          <p:cNvSpPr>
            <a:spLocks noGrp="1"/>
          </p:cNvSpPr>
          <p:nvPr/>
        </p:nvSpPr>
        <p:spPr>
          <a:xfrm>
            <a:off x="9029700" y="3505200"/>
            <a:ext cx="2476500" cy="120015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AD755B5F-028E-449B-9BAA-DAF9FC8AEDA1}"/>
              </a:ext>
            </a:extLst>
          </p:cNvPr>
          <p:cNvSpPr>
            <a:spLocks noGrp="1"/>
          </p:cNvSpPr>
          <p:nvPr/>
        </p:nvSpPr>
        <p:spPr>
          <a:xfrm>
            <a:off x="9182100" y="362902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Karar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E659BAE0-2BED-42D1-9C11-52563E670F79}"/>
              </a:ext>
            </a:extLst>
          </p:cNvPr>
          <p:cNvSpPr>
            <a:spLocks noGrp="1"/>
          </p:cNvSpPr>
          <p:nvPr/>
        </p:nvSpPr>
        <p:spPr>
          <a:xfrm>
            <a:off x="9182100" y="3962400"/>
            <a:ext cx="2171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Hold / release / reject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5B3DFB44-BFF0-4FCC-8E84-459E4ED30CA2}"/>
              </a:ext>
            </a:extLst>
          </p:cNvPr>
          <p:cNvSpPr>
            <a:spLocks noGrp="1"/>
          </p:cNvSpPr>
          <p:nvPr/>
        </p:nvSpPr>
        <p:spPr>
          <a:xfrm>
            <a:off x="6153150" y="3505200"/>
            <a:ext cx="2476500" cy="12001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8885C19F-7CD1-4426-BE00-281C754778E7}"/>
              </a:ext>
            </a:extLst>
          </p:cNvPr>
          <p:cNvSpPr>
            <a:spLocks noGrp="1"/>
          </p:cNvSpPr>
          <p:nvPr/>
        </p:nvSpPr>
        <p:spPr>
          <a:xfrm>
            <a:off x="6305550" y="362902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Genealogy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386451C4-B739-4420-8CE3-3AC5BFEDA42D}"/>
              </a:ext>
            </a:extLst>
          </p:cNvPr>
          <p:cNvSpPr>
            <a:spLocks noGrp="1"/>
          </p:cNvSpPr>
          <p:nvPr/>
        </p:nvSpPr>
        <p:spPr>
          <a:xfrm>
            <a:off x="6305550" y="3962400"/>
            <a:ext cx="2171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Yukarı ve aşağı bağlantı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7CA553EE-205C-47FE-BC88-513CD182A662}"/>
              </a:ext>
            </a:extLst>
          </p:cNvPr>
          <p:cNvSpPr>
            <a:spLocks noGrp="1"/>
          </p:cNvSpPr>
          <p:nvPr/>
        </p:nvSpPr>
        <p:spPr>
          <a:xfrm>
            <a:off x="3276600" y="3505200"/>
            <a:ext cx="2476500" cy="12001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F0BD1786-DD3E-4F46-836B-9A7A6070F1B9}"/>
              </a:ext>
            </a:extLst>
          </p:cNvPr>
          <p:cNvSpPr>
            <a:spLocks noGrp="1"/>
          </p:cNvSpPr>
          <p:nvPr/>
        </p:nvSpPr>
        <p:spPr>
          <a:xfrm>
            <a:off x="3429000" y="362902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Saklama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8571FCDF-53E4-488C-BBF0-E0F46D197E7D}"/>
              </a:ext>
            </a:extLst>
          </p:cNvPr>
          <p:cNvSpPr>
            <a:spLocks noGrp="1"/>
          </p:cNvSpPr>
          <p:nvPr/>
        </p:nvSpPr>
        <p:spPr>
          <a:xfrm>
            <a:off x="3429000" y="3962400"/>
            <a:ext cx="2171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Erişim ve backup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F995D257-D4DC-4CD8-A739-20E997FFAB86}"/>
              </a:ext>
            </a:extLst>
          </p:cNvPr>
          <p:cNvSpPr>
            <a:spLocks noGrp="1"/>
          </p:cNvSpPr>
          <p:nvPr/>
        </p:nvSpPr>
        <p:spPr>
          <a:xfrm>
            <a:off x="400050" y="3505200"/>
            <a:ext cx="2476500" cy="12001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0B3695B6-5AF0-4975-B8D6-FF426AFDC24A}"/>
              </a:ext>
            </a:extLst>
          </p:cNvPr>
          <p:cNvSpPr>
            <a:spLocks noGrp="1"/>
          </p:cNvSpPr>
          <p:nvPr/>
        </p:nvSpPr>
        <p:spPr>
          <a:xfrm>
            <a:off x="552450" y="362902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A389CD03-CA26-4D55-B95A-C7E87183719F}"/>
              </a:ext>
            </a:extLst>
          </p:cNvPr>
          <p:cNvSpPr>
            <a:spLocks noGrp="1"/>
          </p:cNvSpPr>
          <p:nvPr/>
        </p:nvSpPr>
        <p:spPr>
          <a:xfrm>
            <a:off x="552450" y="3962400"/>
            <a:ext cx="2171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Bağımsız yeniden bulma</a:t>
            </a:r>
          </a:p>
        </p:txBody>
      </p:sp>
      <p:cxnSp>
        <p:nvCxnSpPr>
          <p:cNvPr id="65" name="Düz Ok Bağlayıcısı 64"/>
          <p:cNvCxnSpPr>
            <a:stCxn id="5" idx="3"/>
            <a:endCxn id="8" idx="1"/>
          </p:cNvCxnSpPr>
          <p:nvPr/>
        </p:nvCxnSpPr>
        <p:spPr>
          <a:xfrm>
            <a:off x="2876550" y="2295525"/>
            <a:ext cx="400050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66" name="Düz Ok Bağlayıcısı 65"/>
          <p:cNvCxnSpPr>
            <a:stCxn id="8" idx="3"/>
            <a:endCxn id="11" idx="1"/>
          </p:cNvCxnSpPr>
          <p:nvPr/>
        </p:nvCxnSpPr>
        <p:spPr>
          <a:xfrm>
            <a:off x="5753100" y="2295525"/>
            <a:ext cx="400050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67" name="Düz Ok Bağlayıcısı 66"/>
          <p:cNvCxnSpPr>
            <a:stCxn id="11" idx="3"/>
            <a:endCxn id="14" idx="1"/>
          </p:cNvCxnSpPr>
          <p:nvPr/>
        </p:nvCxnSpPr>
        <p:spPr>
          <a:xfrm>
            <a:off x="8629650" y="2295525"/>
            <a:ext cx="400050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68" name="Düz Ok Bağlayıcısı 67"/>
          <p:cNvCxnSpPr>
            <a:stCxn id="14" idx="2"/>
            <a:endCxn id="17" idx="0"/>
          </p:cNvCxnSpPr>
          <p:nvPr/>
        </p:nvCxnSpPr>
        <p:spPr>
          <a:xfrm>
            <a:off x="10267950" y="2895600"/>
            <a:ext cx="0" cy="60960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69" name="Düz Ok Bağlayıcısı 68"/>
          <p:cNvCxnSpPr>
            <a:stCxn id="17" idx="1"/>
            <a:endCxn id="20" idx="3"/>
          </p:cNvCxnSpPr>
          <p:nvPr/>
        </p:nvCxnSpPr>
        <p:spPr>
          <a:xfrm flipH="1">
            <a:off x="8629650" y="4105275"/>
            <a:ext cx="400050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70" name="Düz Ok Bağlayıcısı 69"/>
          <p:cNvCxnSpPr>
            <a:stCxn id="20" idx="1"/>
            <a:endCxn id="23" idx="3"/>
          </p:cNvCxnSpPr>
          <p:nvPr/>
        </p:nvCxnSpPr>
        <p:spPr>
          <a:xfrm flipH="1">
            <a:off x="5753100" y="4105275"/>
            <a:ext cx="400050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71" name="Düz Ok Bağlayıcısı 70"/>
          <p:cNvCxnSpPr>
            <a:stCxn id="23" idx="1"/>
            <a:endCxn id="26" idx="3"/>
          </p:cNvCxnSpPr>
          <p:nvPr/>
        </p:nvCxnSpPr>
        <p:spPr>
          <a:xfrm flipH="1">
            <a:off x="2876550" y="4105275"/>
            <a:ext cx="400050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sp>
        <p:nvSpPr>
          <p:cNvPr id="36" name="Dikdörtgen 35">
            <a:extLst>
              <a:ext uri="{FF2B5EF4-FFF2-40B4-BE49-F238E27FC236}">
                <a16:creationId xmlns:a16="http://schemas.microsoft.com/office/drawing/2014/main" id="{E6658C5D-C5DD-4BFE-8D8D-6A8B54F8BF24}"/>
              </a:ext>
            </a:extLst>
          </p:cNvPr>
          <p:cNvSpPr>
            <a:spLocks noGrp="1"/>
          </p:cNvSpPr>
          <p:nvPr/>
        </p:nvSpPr>
        <p:spPr>
          <a:xfrm>
            <a:off x="400050" y="558165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Kayıt, yalnızca bir sonraki yetkili kararı üretiyorsa sistemin parçasıdır.</a:t>
            </a:r>
          </a:p>
        </p:txBody>
      </p:sp>
    </p:spTree>
    <p:extLst>
      <p:ext uri="{BB962C8B-B14F-4D97-AF65-F5344CB8AC3E}">
        <p14:creationId xmlns:p14="http://schemas.microsoft.com/office/powerpoint/2010/main" val="152647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ikdörtgen 25">
            <a:extLst>
              <a:ext uri="{FF2B5EF4-FFF2-40B4-BE49-F238E27FC236}">
                <a16:creationId xmlns:a16="http://schemas.microsoft.com/office/drawing/2014/main" id="{CFF3E38D-A48C-40FA-BE98-70D2DB8EB35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700F6B13-F28A-4EEA-AF50-7B69DB7BD863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Beş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katmanı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ayırmadan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sistem</a:t>
            </a:r>
            <a:r>
              <a:rPr lang="tr-TR"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okunamaz</a:t>
            </a:r>
            <a:endParaRPr sz="29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B56C8343-04FA-4DA0-B4E0-2AF2C90D0951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23D44942-493E-4F79-81E3-0AD31CD11C38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E9240C4-F4F8-4B7C-AAE0-4A3F39659BB2}"/>
              </a:ext>
            </a:extLst>
          </p:cNvPr>
          <p:cNvSpPr>
            <a:spLocks noGrp="1"/>
          </p:cNvSpPr>
          <p:nvPr/>
        </p:nvSpPr>
        <p:spPr>
          <a:xfrm>
            <a:off x="1219200" y="1504950"/>
            <a:ext cx="9334500" cy="66675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0F2230B6-5DA8-49E7-9477-41505C1A8732}"/>
              </a:ext>
            </a:extLst>
          </p:cNvPr>
          <p:cNvSpPr>
            <a:spLocks noGrp="1"/>
          </p:cNvSpPr>
          <p:nvPr/>
        </p:nvSpPr>
        <p:spPr>
          <a:xfrm>
            <a:off x="1371600" y="166687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69CC6425-C3FD-47DE-95EA-F7D4441648FD}"/>
              </a:ext>
            </a:extLst>
          </p:cNvPr>
          <p:cNvSpPr>
            <a:spLocks noGrp="1"/>
          </p:cNvSpPr>
          <p:nvPr/>
        </p:nvSpPr>
        <p:spPr>
          <a:xfrm>
            <a:off x="1885950" y="16287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Readiness kararı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0417FD71-977F-4791-9F79-4CF3F07A9433}"/>
              </a:ext>
            </a:extLst>
          </p:cNvPr>
          <p:cNvSpPr>
            <a:spLocks noGrp="1"/>
          </p:cNvSpPr>
          <p:nvPr/>
        </p:nvSpPr>
        <p:spPr>
          <a:xfrm>
            <a:off x="4552950" y="1647825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Bir sonraki kapıya geçme yetkisi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179C65F-EC3D-48CF-BA77-BD7FBDC56BC5}"/>
              </a:ext>
            </a:extLst>
          </p:cNvPr>
          <p:cNvSpPr>
            <a:spLocks noGrp="1"/>
          </p:cNvSpPr>
          <p:nvPr/>
        </p:nvSpPr>
        <p:spPr>
          <a:xfrm>
            <a:off x="1562100" y="2286000"/>
            <a:ext cx="8648700" cy="666750"/>
          </a:xfrm>
          <a:prstGeom prst="rect">
            <a:avLst/>
          </a:prstGeom>
          <a:solidFill>
            <a:srgbClr val="D9EAD3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A08E08D-67E4-4927-A7C0-2433DA0D2606}"/>
              </a:ext>
            </a:extLst>
          </p:cNvPr>
          <p:cNvSpPr>
            <a:spLocks noGrp="1"/>
          </p:cNvSpPr>
          <p:nvPr/>
        </p:nvSpPr>
        <p:spPr>
          <a:xfrm>
            <a:off x="1714500" y="24479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BDDC22FC-1313-48E4-A554-7114FBA3DD43}"/>
              </a:ext>
            </a:extLst>
          </p:cNvPr>
          <p:cNvSpPr>
            <a:spLocks noGrp="1"/>
          </p:cNvSpPr>
          <p:nvPr/>
        </p:nvSpPr>
        <p:spPr>
          <a:xfrm>
            <a:off x="2228850" y="24098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Objektif kanıt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FD3FC49E-D254-4B18-9442-5F6AAF8C8162}"/>
              </a:ext>
            </a:extLst>
          </p:cNvPr>
          <p:cNvSpPr>
            <a:spLocks noGrp="1"/>
          </p:cNvSpPr>
          <p:nvPr/>
        </p:nvSpPr>
        <p:spPr>
          <a:xfrm>
            <a:off x="4895850" y="2428875"/>
            <a:ext cx="512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Kabul edilmiş, bağlantılı ve yeniden bulunabilir kayıt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D815DF97-D174-426E-AB80-9E93BD92E7AA}"/>
              </a:ext>
            </a:extLst>
          </p:cNvPr>
          <p:cNvSpPr>
            <a:spLocks noGrp="1"/>
          </p:cNvSpPr>
          <p:nvPr/>
        </p:nvSpPr>
        <p:spPr>
          <a:xfrm>
            <a:off x="1905000" y="3067050"/>
            <a:ext cx="7962900" cy="6667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5DDDB2BF-FDF0-46C6-AB55-3EE8DBEB26AB}"/>
              </a:ext>
            </a:extLst>
          </p:cNvPr>
          <p:cNvSpPr>
            <a:spLocks noGrp="1"/>
          </p:cNvSpPr>
          <p:nvPr/>
        </p:nvSpPr>
        <p:spPr>
          <a:xfrm>
            <a:off x="2057400" y="322897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8A0C80F4-FEBC-45C5-92F4-2034120B4373}"/>
              </a:ext>
            </a:extLst>
          </p:cNvPr>
          <p:cNvSpPr>
            <a:spLocks noGrp="1"/>
          </p:cNvSpPr>
          <p:nvPr/>
        </p:nvSpPr>
        <p:spPr>
          <a:xfrm>
            <a:off x="2571750" y="31908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İşlem kaydı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49FC7C04-2837-4E42-9EA4-DA7E68407B3D}"/>
              </a:ext>
            </a:extLst>
          </p:cNvPr>
          <p:cNvSpPr>
            <a:spLocks noGrp="1"/>
          </p:cNvSpPr>
          <p:nvPr/>
        </p:nvSpPr>
        <p:spPr>
          <a:xfrm>
            <a:off x="5238750" y="3209925"/>
            <a:ext cx="443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Tek bir olay / lot / batch / test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8E1CDF67-72E8-42BF-8D4F-A7AD870463F7}"/>
              </a:ext>
            </a:extLst>
          </p:cNvPr>
          <p:cNvSpPr>
            <a:spLocks noGrp="1"/>
          </p:cNvSpPr>
          <p:nvPr/>
        </p:nvSpPr>
        <p:spPr>
          <a:xfrm>
            <a:off x="2247900" y="3848100"/>
            <a:ext cx="7277100" cy="666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41A39579-94AC-4D3A-B721-110767369D6A}"/>
              </a:ext>
            </a:extLst>
          </p:cNvPr>
          <p:cNvSpPr>
            <a:spLocks noGrp="1"/>
          </p:cNvSpPr>
          <p:nvPr/>
        </p:nvSpPr>
        <p:spPr>
          <a:xfrm>
            <a:off x="2400300" y="40100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927F286F-C613-42A9-A8CC-4F912A3723BD}"/>
              </a:ext>
            </a:extLst>
          </p:cNvPr>
          <p:cNvSpPr>
            <a:spLocks noGrp="1"/>
          </p:cNvSpPr>
          <p:nvPr/>
        </p:nvSpPr>
        <p:spPr>
          <a:xfrm>
            <a:off x="2914650" y="39719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Şablon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AA2DA0FF-6B57-497B-B7CD-B686F915F3EB}"/>
              </a:ext>
            </a:extLst>
          </p:cNvPr>
          <p:cNvSpPr>
            <a:spLocks noGrp="1"/>
          </p:cNvSpPr>
          <p:nvPr/>
        </p:nvSpPr>
        <p:spPr>
          <a:xfrm>
            <a:off x="5581650" y="3990975"/>
            <a:ext cx="3752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Hangi alanların kaydedileceği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9E3819AE-AF14-460F-96C6-E822DC29416B}"/>
              </a:ext>
            </a:extLst>
          </p:cNvPr>
          <p:cNvSpPr>
            <a:spLocks noGrp="1"/>
          </p:cNvSpPr>
          <p:nvPr/>
        </p:nvSpPr>
        <p:spPr>
          <a:xfrm>
            <a:off x="2590800" y="4629150"/>
            <a:ext cx="65913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3103E634-40B1-4FC4-91E5-E154369783DE}"/>
              </a:ext>
            </a:extLst>
          </p:cNvPr>
          <p:cNvSpPr>
            <a:spLocks noGrp="1"/>
          </p:cNvSpPr>
          <p:nvPr/>
        </p:nvSpPr>
        <p:spPr>
          <a:xfrm>
            <a:off x="2743200" y="479107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F6248769-3352-4421-ABCB-F9BE19FC4635}"/>
              </a:ext>
            </a:extLst>
          </p:cNvPr>
          <p:cNvSpPr>
            <a:spLocks noGrp="1"/>
          </p:cNvSpPr>
          <p:nvPr/>
        </p:nvSpPr>
        <p:spPr>
          <a:xfrm>
            <a:off x="3257550" y="47529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Prosedür / SOP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F03A35DE-C2EB-4505-836C-00073756F56D}"/>
              </a:ext>
            </a:extLst>
          </p:cNvPr>
          <p:cNvSpPr>
            <a:spLocks noGrp="1"/>
          </p:cNvSpPr>
          <p:nvPr/>
        </p:nvSpPr>
        <p:spPr>
          <a:xfrm>
            <a:off x="5924550" y="4772025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96"/>
          </a:bodyPr>
          <a:lstStyle/>
          <a:p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Kim, ne zaman, hangi sınırlarla?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A0FA5F2C-E013-4B55-AB34-5468AE28D70A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424"/>
          </a:bodyPr>
          <a:lstStyle/>
          <a:p>
            <a:pPr algn="l">
              <a:defRPr sz="1725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Boş form = şablon. İmzalı kayıt bile; yetki, genealogy ve retrieval yoksa otomatik olarak objektif kanıt değildir.</a:t>
            </a:r>
          </a:p>
        </p:txBody>
      </p:sp>
    </p:spTree>
    <p:extLst>
      <p:ext uri="{BB962C8B-B14F-4D97-AF65-F5344CB8AC3E}">
        <p14:creationId xmlns:p14="http://schemas.microsoft.com/office/powerpoint/2010/main" val="1364243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ikdörtgen 14">
            <a:extLst>
              <a:ext uri="{FF2B5EF4-FFF2-40B4-BE49-F238E27FC236}">
                <a16:creationId xmlns:a16="http://schemas.microsoft.com/office/drawing/2014/main" id="{3B977418-AD96-435E-B426-D7D229A0EBC2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B85610D2-FF60-41F1-8E0E-BEAA725C7A35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Üç kapı katmanı üç farklı kararı korur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C69AF14-D915-4266-B710-EBF385CCEC47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23DB491E-52A5-43F0-816A-9A510F3F4513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E09B3510-A1DB-44D5-87E5-F7599AEC05E1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3429000" cy="314325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04F737D2-C1AC-40BC-8663-ADFD2A887DC1}"/>
              </a:ext>
            </a:extLst>
          </p:cNvPr>
          <p:cNvSpPr>
            <a:spLocks noGrp="1"/>
          </p:cNvSpPr>
          <p:nvPr/>
        </p:nvSpPr>
        <p:spPr>
          <a:xfrm>
            <a:off x="552450" y="1743075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0714"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G-SIM-01…12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3A8E2678-2826-44AA-948E-8A03D2889860}"/>
              </a:ext>
            </a:extLst>
          </p:cNvPr>
          <p:cNvSpPr>
            <a:spLocks noGrp="1"/>
          </p:cNvSpPr>
          <p:nvPr/>
        </p:nvSpPr>
        <p:spPr>
          <a:xfrm>
            <a:off x="552450" y="2076450"/>
            <a:ext cx="31242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Simülasyonu güvenli biçimde başlatabilir miyiz?</a:t>
            </a:r>
          </a:p>
          <a:p>
            <a:endParaRPr sz="1500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Son karar: GM final run release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60B1D9B-CAF8-4549-8B16-2BF8C09E6826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3429000" cy="31432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8E6B95E7-E503-4BDE-B1FD-0BE7035F7491}"/>
              </a:ext>
            </a:extLst>
          </p:cNvPr>
          <p:cNvSpPr>
            <a:spLocks noGrp="1"/>
          </p:cNvSpPr>
          <p:nvPr/>
        </p:nvSpPr>
        <p:spPr>
          <a:xfrm>
            <a:off x="4533900" y="1743075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0714"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O-G01…O-G10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211BA0A3-9199-4755-9736-63449B063A90}"/>
              </a:ext>
            </a:extLst>
          </p:cNvPr>
          <p:cNvSpPr>
            <a:spLocks noGrp="1"/>
          </p:cNvSpPr>
          <p:nvPr/>
        </p:nvSpPr>
        <p:spPr>
          <a:xfrm>
            <a:off x="4533900" y="2076450"/>
            <a:ext cx="31242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 lot, batch veya sevkiyat bir sonraki işlem adımına geçebilir mi?</a:t>
            </a:r>
          </a:p>
          <a:p>
            <a:endParaRPr sz="1500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Sonuç: PASS / HOLD / RELEASE / REJECT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76FE6373-39FF-440B-898C-C24ABD330DBD}"/>
              </a:ext>
            </a:extLst>
          </p:cNvPr>
          <p:cNvSpPr>
            <a:spLocks noGrp="1"/>
          </p:cNvSpPr>
          <p:nvPr/>
        </p:nvSpPr>
        <p:spPr>
          <a:xfrm>
            <a:off x="8362950" y="1619250"/>
            <a:ext cx="3429000" cy="3143250"/>
          </a:xfrm>
          <a:prstGeom prst="rect">
            <a:avLst/>
          </a:prstGeom>
          <a:solidFill>
            <a:srgbClr val="D9EAD3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389A89FC-846C-4792-AD8B-AB44B3034DED}"/>
              </a:ext>
            </a:extLst>
          </p:cNvPr>
          <p:cNvSpPr>
            <a:spLocks noGrp="1"/>
          </p:cNvSpPr>
          <p:nvPr/>
        </p:nvSpPr>
        <p:spPr>
          <a:xfrm>
            <a:off x="8515350" y="1743075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0714"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P010 G0…G10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8231EDBD-2164-48B2-BB89-F88AA18DDAF1}"/>
              </a:ext>
            </a:extLst>
          </p:cNvPr>
          <p:cNvSpPr>
            <a:spLocks noGrp="1"/>
          </p:cNvSpPr>
          <p:nvPr/>
        </p:nvSpPr>
        <p:spPr>
          <a:xfrm>
            <a:off x="8515350" y="2076450"/>
            <a:ext cx="31242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Gerçek organizasyon ISO uygulaması ve başvuru için hazır mı?</a:t>
            </a:r>
          </a:p>
          <a:p>
            <a:endParaRPr sz="1500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Son karar: YGG / GM GO-NO GO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83EAF915-3ADD-470C-AB61-E5FF428B8F52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Simülasyon onayı ≠ ürün serbest bırakması ≠ ISO readiness kararı</a:t>
            </a:r>
          </a:p>
        </p:txBody>
      </p:sp>
    </p:spTree>
    <p:extLst>
      <p:ext uri="{BB962C8B-B14F-4D97-AF65-F5344CB8AC3E}">
        <p14:creationId xmlns:p14="http://schemas.microsoft.com/office/powerpoint/2010/main" val="1129475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ikdörtgen 13">
            <a:extLst>
              <a:ext uri="{FF2B5EF4-FFF2-40B4-BE49-F238E27FC236}">
                <a16:creationId xmlns:a16="http://schemas.microsoft.com/office/drawing/2014/main" id="{C1692818-BBAE-422E-A6FD-9038DE7F33C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ABD8FD38-7A02-490A-8CF4-56D4B0D60B14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R, V ve A aynı rol değildir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0B7764E8-53FC-4669-A636-2FEC740BA4DB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E9B42704-252B-43BA-A480-8439DAA8CFDD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C51A01AF-8C01-45C9-BB75-53287E235A2C}"/>
              </a:ext>
            </a:extLst>
          </p:cNvPr>
          <p:cNvSpPr>
            <a:spLocks noGrp="1"/>
          </p:cNvSpPr>
          <p:nvPr/>
        </p:nvSpPr>
        <p:spPr>
          <a:xfrm>
            <a:off x="723900" y="1847850"/>
            <a:ext cx="3143250" cy="29527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5D91F02D-2F08-44B4-98DB-B61ED102E7FF}"/>
              </a:ext>
            </a:extLst>
          </p:cNvPr>
          <p:cNvSpPr>
            <a:spLocks noGrp="1"/>
          </p:cNvSpPr>
          <p:nvPr/>
        </p:nvSpPr>
        <p:spPr>
          <a:xfrm>
            <a:off x="876300" y="1971675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2963"/>
          </a:bodyPr>
          <a:lstStyle/>
          <a:p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 | Responsible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74666D2-84E3-4B35-8536-FD123BC3EF51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83845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İşi yapar.</a:t>
            </a:r>
          </a:p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Gerçek veriyi kaydeder.</a:t>
            </a:r>
          </a:p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Sapmayı saklamaz.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FEC319E-0B00-490E-985C-F42CBB40AF65}"/>
              </a:ext>
            </a:extLst>
          </p:cNvPr>
          <p:cNvSpPr>
            <a:spLocks noGrp="1"/>
          </p:cNvSpPr>
          <p:nvPr/>
        </p:nvSpPr>
        <p:spPr>
          <a:xfrm>
            <a:off x="4524375" y="1847850"/>
            <a:ext cx="3143250" cy="295275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516AD720-0963-49C8-8A75-ABA99F95A5A4}"/>
              </a:ext>
            </a:extLst>
          </p:cNvPr>
          <p:cNvSpPr>
            <a:spLocks noGrp="1"/>
          </p:cNvSpPr>
          <p:nvPr/>
        </p:nvSpPr>
        <p:spPr>
          <a:xfrm>
            <a:off x="4676775" y="1971675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2963"/>
          </a:bodyPr>
          <a:lstStyle/>
          <a:p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 | Verifier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2F0D27F-0039-4E2C-B004-9D2002EF427E}"/>
              </a:ext>
            </a:extLst>
          </p:cNvPr>
          <p:cNvSpPr>
            <a:spLocks noGrp="1"/>
          </p:cNvSpPr>
          <p:nvPr/>
        </p:nvSpPr>
        <p:spPr>
          <a:xfrm>
            <a:off x="4676775" y="2305050"/>
            <a:ext cx="283845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Kaynağı, hesabı, şartı ve bütünlüğü kontrol eder.</a:t>
            </a:r>
          </a:p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Karar için görüş üretir.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C531DA47-49CF-4ED9-9A10-8493B6DE2DC7}"/>
              </a:ext>
            </a:extLst>
          </p:cNvPr>
          <p:cNvSpPr>
            <a:spLocks noGrp="1"/>
          </p:cNvSpPr>
          <p:nvPr/>
        </p:nvSpPr>
        <p:spPr>
          <a:xfrm>
            <a:off x="8324850" y="1847850"/>
            <a:ext cx="3143250" cy="2952750"/>
          </a:xfrm>
          <a:prstGeom prst="rect">
            <a:avLst/>
          </a:prstGeom>
          <a:solidFill>
            <a:srgbClr val="D9EAD3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DDB71D67-BD76-45E3-B5C1-12FFEFCAC0F0}"/>
              </a:ext>
            </a:extLst>
          </p:cNvPr>
          <p:cNvSpPr>
            <a:spLocks noGrp="1"/>
          </p:cNvSpPr>
          <p:nvPr/>
        </p:nvSpPr>
        <p:spPr>
          <a:xfrm>
            <a:off x="8477250" y="1971675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2963"/>
          </a:bodyPr>
          <a:lstStyle/>
          <a:p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| Authority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5DFF3C53-3654-48BD-B659-2021343B4EA0}"/>
              </a:ext>
            </a:extLst>
          </p:cNvPr>
          <p:cNvSpPr>
            <a:spLocks noGrp="1"/>
          </p:cNvSpPr>
          <p:nvPr/>
        </p:nvSpPr>
        <p:spPr>
          <a:xfrm>
            <a:off x="8477250" y="2305050"/>
            <a:ext cx="283845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Statü ve geçiş kararını verir.</a:t>
            </a:r>
          </a:p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Yetki sınırından çıkamaz.</a:t>
            </a:r>
          </a:p>
        </p:txBody>
      </p:sp>
      <p:cxnSp>
        <p:nvCxnSpPr>
          <p:cNvPr id="30" name="Düz Ok Bağlayıcısı 29"/>
          <p:cNvCxnSpPr>
            <a:stCxn id="5" idx="3"/>
            <a:endCxn id="8" idx="1"/>
          </p:cNvCxnSpPr>
          <p:nvPr/>
        </p:nvCxnSpPr>
        <p:spPr>
          <a:xfrm>
            <a:off x="3867150" y="3324225"/>
            <a:ext cx="657225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31" name="Düz Ok Bağlayıcısı 30"/>
          <p:cNvCxnSpPr>
            <a:stCxn id="8" idx="3"/>
            <a:endCxn id="11" idx="1"/>
          </p:cNvCxnSpPr>
          <p:nvPr/>
        </p:nvCxnSpPr>
        <p:spPr>
          <a:xfrm>
            <a:off x="7667625" y="3324225"/>
            <a:ext cx="657225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sp>
        <p:nvSpPr>
          <p:cNvPr id="16" name="Dikdörtgen 15">
            <a:extLst>
              <a:ext uri="{FF2B5EF4-FFF2-40B4-BE49-F238E27FC236}">
                <a16:creationId xmlns:a16="http://schemas.microsoft.com/office/drawing/2014/main" id="{FBEC740F-67F2-4FDF-AFF9-0BEB5F8D4A50}"/>
              </a:ext>
            </a:extLst>
          </p:cNvPr>
          <p:cNvSpPr>
            <a:spLocks noGrp="1"/>
          </p:cNvSpPr>
          <p:nvPr/>
        </p:nvSpPr>
        <p:spPr>
          <a:xfrm>
            <a:off x="742950" y="538162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Örnek: Depo teslim alır (R) -&gt; QC/QA doğrular (V) -&gt; QA lot statüsünü verir (A)</a:t>
            </a:r>
          </a:p>
        </p:txBody>
      </p:sp>
    </p:spTree>
    <p:extLst>
      <p:ext uri="{BB962C8B-B14F-4D97-AF65-F5344CB8AC3E}">
        <p14:creationId xmlns:p14="http://schemas.microsoft.com/office/powerpoint/2010/main" val="45761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B2F9B53F-9B99-41A2-BD89-48E5DE6AA852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1C045BF9-F77D-4EFB-8B96-28E355D6A487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Görevler ayrılığı beş yetkisiz kısayolu kapatır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CCBDCF56-D6BC-4B48-8FE8-AAAC81EE7B79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4348B6DE-6EBC-4CE4-BC8D-C8FB42A88548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graphicFrame>
        <p:nvGraphicFramePr>
          <p:cNvPr id="11" name="Tablo 10"/>
          <p:cNvGraphicFramePr/>
          <p:nvPr/>
        </p:nvGraphicFramePr>
        <p:xfrm>
          <a:off x="400050" y="1619250"/>
          <a:ext cx="11391900" cy="3714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Kısayol</a:t>
                      </a:r>
                    </a:p>
                  </a:txBody>
                  <a:tcPr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Neden yasak?</a:t>
                      </a:r>
                    </a:p>
                  </a:txBody>
                  <a:tcPr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Doğru kontrol</a:t>
                      </a:r>
                    </a:p>
                  </a:txBody>
                  <a:tcPr>
                    <a:solidFill>
                      <a:srgbClr val="D0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SCM teknik uygunluğu tek başına onaylar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Ticari ve teknik çıkarlar karışır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Teknik sahip + QA/HSE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Depo ACCEPTED statüsü verir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Fiziksel kabul kalite release değildir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Depo QUARANTINE; QA statü kararı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Üretim kendi batch'ini serbest bırakır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Sonuç ve release bağımsızlığı kaybolur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QC review + QA Release Approver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QC OOS'u yeniden testle PASS yapar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Orijinal gerçek ve karar izi silinir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OOS investigation + authorized disposition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CAPA sahibi kendi etkinliğini onaylar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False closure riski oluşur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Bağımsız effectiveness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Dikdörtgen 5">
            <a:extLst>
              <a:ext uri="{FF2B5EF4-FFF2-40B4-BE49-F238E27FC236}">
                <a16:creationId xmlns:a16="http://schemas.microsoft.com/office/drawing/2014/main" id="{601FB4A7-14D1-46E2-9FE8-7C517697B4CE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1391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000"/>
          </a:bodyPr>
          <a:lstStyle/>
          <a:p>
            <a:pPr algn="ctr">
              <a:defRPr sz="1875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Yetki matrisi kişiyi değil; kişinin karar kapsamını tanımlar.</a:t>
            </a:r>
          </a:p>
        </p:txBody>
      </p:sp>
    </p:spTree>
    <p:extLst>
      <p:ext uri="{BB962C8B-B14F-4D97-AF65-F5344CB8AC3E}">
        <p14:creationId xmlns:p14="http://schemas.microsoft.com/office/powerpoint/2010/main" val="181524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Dikdörtgen 41">
            <a:extLst>
              <a:ext uri="{FF2B5EF4-FFF2-40B4-BE49-F238E27FC236}">
                <a16:creationId xmlns:a16="http://schemas.microsoft.com/office/drawing/2014/main" id="{5C970D6C-0B25-431C-8ACF-A8E5D1DBE99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E65F822C-0712-4DC1-9D6A-FEBE74B6D5DD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Day-0'da on iki kapı geçmeden işlem açılmaz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BDE90D47-0977-46A5-A3D7-150B070AA428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7191168E-96CD-4C64-958F-8136FDA5988A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60FBCE8D-5939-48E3-B4D3-96112E45DE3A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2571750" cy="102870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AD92069-85A0-46D3-9AFF-60F0C6946540}"/>
              </a:ext>
            </a:extLst>
          </p:cNvPr>
          <p:cNvSpPr>
            <a:spLocks noGrp="1"/>
          </p:cNvSpPr>
          <p:nvPr/>
        </p:nvSpPr>
        <p:spPr>
          <a:xfrm>
            <a:off x="552450" y="168592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G-SIM-01 Charter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4E47E60D-ADDE-4BA4-A99D-A97B87E8807D}"/>
              </a:ext>
            </a:extLst>
          </p:cNvPr>
          <p:cNvSpPr>
            <a:spLocks noGrp="1"/>
          </p:cNvSpPr>
          <p:nvPr/>
        </p:nvSpPr>
        <p:spPr>
          <a:xfrm>
            <a:off x="552450" y="2019300"/>
            <a:ext cx="2266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Temel kontrol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CF19435-2490-4876-BCB6-6B5A7F20324C}"/>
              </a:ext>
            </a:extLst>
          </p:cNvPr>
          <p:cNvSpPr>
            <a:spLocks noGrp="1"/>
          </p:cNvSpPr>
          <p:nvPr/>
        </p:nvSpPr>
        <p:spPr>
          <a:xfrm>
            <a:off x="3276600" y="1562100"/>
            <a:ext cx="2571750" cy="102870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D69CDFE6-753D-41CB-974A-E9F969AC00D7}"/>
              </a:ext>
            </a:extLst>
          </p:cNvPr>
          <p:cNvSpPr>
            <a:spLocks noGrp="1"/>
          </p:cNvSpPr>
          <p:nvPr/>
        </p:nvSpPr>
        <p:spPr>
          <a:xfrm>
            <a:off x="3429000" y="168592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G-SIM-02 Source lock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C7801196-2034-441B-BECF-967D612918B2}"/>
              </a:ext>
            </a:extLst>
          </p:cNvPr>
          <p:cNvSpPr>
            <a:spLocks noGrp="1"/>
          </p:cNvSpPr>
          <p:nvPr/>
        </p:nvSpPr>
        <p:spPr>
          <a:xfrm>
            <a:off x="3429000" y="2019300"/>
            <a:ext cx="2266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Temel kontrol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1DF5CEC4-AB46-49F0-A8CC-01E71D59E6A3}"/>
              </a:ext>
            </a:extLst>
          </p:cNvPr>
          <p:cNvSpPr>
            <a:spLocks noGrp="1"/>
          </p:cNvSpPr>
          <p:nvPr/>
        </p:nvSpPr>
        <p:spPr>
          <a:xfrm>
            <a:off x="6153150" y="1562100"/>
            <a:ext cx="2571750" cy="102870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E8BB07F-C2CC-43F0-B3F6-09F380117DBA}"/>
              </a:ext>
            </a:extLst>
          </p:cNvPr>
          <p:cNvSpPr>
            <a:spLocks noGrp="1"/>
          </p:cNvSpPr>
          <p:nvPr/>
        </p:nvSpPr>
        <p:spPr>
          <a:xfrm>
            <a:off x="6305550" y="168592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G-SIM-03 Synthetic master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DB855051-49A1-44BF-A27A-D76540E76597}"/>
              </a:ext>
            </a:extLst>
          </p:cNvPr>
          <p:cNvSpPr>
            <a:spLocks noGrp="1"/>
          </p:cNvSpPr>
          <p:nvPr/>
        </p:nvSpPr>
        <p:spPr>
          <a:xfrm>
            <a:off x="6305550" y="2019300"/>
            <a:ext cx="2266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Temel kontrol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81DB0F09-A50C-4732-929B-0D48BC7E9EF2}"/>
              </a:ext>
            </a:extLst>
          </p:cNvPr>
          <p:cNvSpPr>
            <a:spLocks noGrp="1"/>
          </p:cNvSpPr>
          <p:nvPr/>
        </p:nvSpPr>
        <p:spPr>
          <a:xfrm>
            <a:off x="9029700" y="1562100"/>
            <a:ext cx="2571750" cy="102870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BB1B1AD4-A33B-4761-BAB6-5EACE2298A67}"/>
              </a:ext>
            </a:extLst>
          </p:cNvPr>
          <p:cNvSpPr>
            <a:spLocks noGrp="1"/>
          </p:cNvSpPr>
          <p:nvPr/>
        </p:nvSpPr>
        <p:spPr>
          <a:xfrm>
            <a:off x="9182100" y="168592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G-SIM-04 Repository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671B7CB4-AE67-4C48-A37A-F6DC10FE7E4B}"/>
              </a:ext>
            </a:extLst>
          </p:cNvPr>
          <p:cNvSpPr>
            <a:spLocks noGrp="1"/>
          </p:cNvSpPr>
          <p:nvPr/>
        </p:nvSpPr>
        <p:spPr>
          <a:xfrm>
            <a:off x="9182100" y="2019300"/>
            <a:ext cx="2266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Temel kontrol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8DDA3E51-EB4E-4B6A-AB06-F70D6E683678}"/>
              </a:ext>
            </a:extLst>
          </p:cNvPr>
          <p:cNvSpPr>
            <a:spLocks noGrp="1"/>
          </p:cNvSpPr>
          <p:nvPr/>
        </p:nvSpPr>
        <p:spPr>
          <a:xfrm>
            <a:off x="400050" y="2943225"/>
            <a:ext cx="2571750" cy="10287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E3E62477-B876-4262-ACEB-5AE7C36C674C}"/>
              </a:ext>
            </a:extLst>
          </p:cNvPr>
          <p:cNvSpPr>
            <a:spLocks noGrp="1"/>
          </p:cNvSpPr>
          <p:nvPr/>
        </p:nvSpPr>
        <p:spPr>
          <a:xfrm>
            <a:off x="552450" y="30670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G-SIM-05 Roles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A6C82BAC-9A9A-4082-94FD-907B3B9C54DE}"/>
              </a:ext>
            </a:extLst>
          </p:cNvPr>
          <p:cNvSpPr>
            <a:spLocks noGrp="1"/>
          </p:cNvSpPr>
          <p:nvPr/>
        </p:nvSpPr>
        <p:spPr>
          <a:xfrm>
            <a:off x="552450" y="3400425"/>
            <a:ext cx="2266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Tasarım kontrolü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F80291BB-D661-41ED-B68C-9ACA6C823CF1}"/>
              </a:ext>
            </a:extLst>
          </p:cNvPr>
          <p:cNvSpPr>
            <a:spLocks noGrp="1"/>
          </p:cNvSpPr>
          <p:nvPr/>
        </p:nvSpPr>
        <p:spPr>
          <a:xfrm>
            <a:off x="3276600" y="2943225"/>
            <a:ext cx="2571750" cy="10287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73A61C36-4BB5-4F91-AB32-9201AB7E0B68}"/>
              </a:ext>
            </a:extLst>
          </p:cNvPr>
          <p:cNvSpPr>
            <a:spLocks noGrp="1"/>
          </p:cNvSpPr>
          <p:nvPr/>
        </p:nvSpPr>
        <p:spPr>
          <a:xfrm>
            <a:off x="3429000" y="30670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G-SIM-06 IDs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0B83EE05-8993-4B3D-8828-6770D3680C81}"/>
              </a:ext>
            </a:extLst>
          </p:cNvPr>
          <p:cNvSpPr>
            <a:spLocks noGrp="1"/>
          </p:cNvSpPr>
          <p:nvPr/>
        </p:nvSpPr>
        <p:spPr>
          <a:xfrm>
            <a:off x="3429000" y="3400425"/>
            <a:ext cx="2266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Tasarım kontrolü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EC63D082-451C-4C3D-8D07-373A67EDA62C}"/>
              </a:ext>
            </a:extLst>
          </p:cNvPr>
          <p:cNvSpPr>
            <a:spLocks noGrp="1"/>
          </p:cNvSpPr>
          <p:nvPr/>
        </p:nvSpPr>
        <p:spPr>
          <a:xfrm>
            <a:off x="6153150" y="2943225"/>
            <a:ext cx="2571750" cy="10287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BF2AF44E-1240-499D-8742-2A5655B0942C}"/>
              </a:ext>
            </a:extLst>
          </p:cNvPr>
          <p:cNvSpPr>
            <a:spLocks noGrp="1"/>
          </p:cNvSpPr>
          <p:nvPr/>
        </p:nvSpPr>
        <p:spPr>
          <a:xfrm>
            <a:off x="6305550" y="30670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G-SIM-07 Scenarios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7BE94059-BF83-4ABF-ADF2-83212E291B4B}"/>
              </a:ext>
            </a:extLst>
          </p:cNvPr>
          <p:cNvSpPr>
            <a:spLocks noGrp="1"/>
          </p:cNvSpPr>
          <p:nvPr/>
        </p:nvSpPr>
        <p:spPr>
          <a:xfrm>
            <a:off x="6305550" y="3400425"/>
            <a:ext cx="2266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Tasarım kontrolü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FFA46A28-C8BE-400D-A1D1-F79E1732AA26}"/>
              </a:ext>
            </a:extLst>
          </p:cNvPr>
          <p:cNvSpPr>
            <a:spLocks noGrp="1"/>
          </p:cNvSpPr>
          <p:nvPr/>
        </p:nvSpPr>
        <p:spPr>
          <a:xfrm>
            <a:off x="9029700" y="2943225"/>
            <a:ext cx="2571750" cy="10287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893681D5-A73B-454B-A60A-1C64111C1F5C}"/>
              </a:ext>
            </a:extLst>
          </p:cNvPr>
          <p:cNvSpPr>
            <a:spLocks noGrp="1"/>
          </p:cNvSpPr>
          <p:nvPr/>
        </p:nvSpPr>
        <p:spPr>
          <a:xfrm>
            <a:off x="9182100" y="30670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G-SIM-08 Chronology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C3B9068-A2F3-45B0-98A2-3F75907A9FB5}"/>
              </a:ext>
            </a:extLst>
          </p:cNvPr>
          <p:cNvSpPr>
            <a:spLocks noGrp="1"/>
          </p:cNvSpPr>
          <p:nvPr/>
        </p:nvSpPr>
        <p:spPr>
          <a:xfrm>
            <a:off x="9182100" y="3400425"/>
            <a:ext cx="2266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Tasarım kontrolü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499F2A02-49C6-457D-AF5F-49269866E789}"/>
              </a:ext>
            </a:extLst>
          </p:cNvPr>
          <p:cNvSpPr>
            <a:spLocks noGrp="1"/>
          </p:cNvSpPr>
          <p:nvPr/>
        </p:nvSpPr>
        <p:spPr>
          <a:xfrm>
            <a:off x="400050" y="4324350"/>
            <a:ext cx="2571750" cy="10287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5F29AA17-5E3B-4957-8E1D-4AF4615A000C}"/>
              </a:ext>
            </a:extLst>
          </p:cNvPr>
          <p:cNvSpPr>
            <a:spLocks noGrp="1"/>
          </p:cNvSpPr>
          <p:nvPr/>
        </p:nvSpPr>
        <p:spPr>
          <a:xfrm>
            <a:off x="552450" y="444817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G-SIM-09 Explanation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2A08B80C-B98C-4147-8220-4C05C298B0FA}"/>
              </a:ext>
            </a:extLst>
          </p:cNvPr>
          <p:cNvSpPr>
            <a:spLocks noGrp="1"/>
          </p:cNvSpPr>
          <p:nvPr/>
        </p:nvSpPr>
        <p:spPr>
          <a:xfrm>
            <a:off x="552450" y="4781550"/>
            <a:ext cx="2266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Release kontrolü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24FD60C5-FB78-4B44-A9A3-A107F5AFFD11}"/>
              </a:ext>
            </a:extLst>
          </p:cNvPr>
          <p:cNvSpPr>
            <a:spLocks noGrp="1"/>
          </p:cNvSpPr>
          <p:nvPr/>
        </p:nvSpPr>
        <p:spPr>
          <a:xfrm>
            <a:off x="3276600" y="4324350"/>
            <a:ext cx="2571750" cy="10287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4F2FC375-EBD7-44B4-8EBF-01606BC0BE9F}"/>
              </a:ext>
            </a:extLst>
          </p:cNvPr>
          <p:cNvSpPr>
            <a:spLocks noGrp="1"/>
          </p:cNvSpPr>
          <p:nvPr/>
        </p:nvSpPr>
        <p:spPr>
          <a:xfrm>
            <a:off x="3429000" y="444817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G-SIM-10 Non-claim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2A1BA2E8-ECD5-41A1-8B49-42046D6F98A0}"/>
              </a:ext>
            </a:extLst>
          </p:cNvPr>
          <p:cNvSpPr>
            <a:spLocks noGrp="1"/>
          </p:cNvSpPr>
          <p:nvPr/>
        </p:nvSpPr>
        <p:spPr>
          <a:xfrm>
            <a:off x="3429000" y="4781550"/>
            <a:ext cx="2266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Release kontrolü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FC1156AB-53A7-430B-A961-380F1CDF60CA}"/>
              </a:ext>
            </a:extLst>
          </p:cNvPr>
          <p:cNvSpPr>
            <a:spLocks noGrp="1"/>
          </p:cNvSpPr>
          <p:nvPr/>
        </p:nvSpPr>
        <p:spPr>
          <a:xfrm>
            <a:off x="6153150" y="4324350"/>
            <a:ext cx="2571750" cy="10287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259E5C5D-9116-4AEC-855B-699E0831D0C9}"/>
              </a:ext>
            </a:extLst>
          </p:cNvPr>
          <p:cNvSpPr>
            <a:spLocks noGrp="1"/>
          </p:cNvSpPr>
          <p:nvPr/>
        </p:nvSpPr>
        <p:spPr>
          <a:xfrm>
            <a:off x="6305550" y="444817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G-SIM-11 Pilot</a:t>
            </a: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92A050FB-DBD0-4D73-8EC4-A09CD32ADEF0}"/>
              </a:ext>
            </a:extLst>
          </p:cNvPr>
          <p:cNvSpPr>
            <a:spLocks noGrp="1"/>
          </p:cNvSpPr>
          <p:nvPr/>
        </p:nvSpPr>
        <p:spPr>
          <a:xfrm>
            <a:off x="6305550" y="4781550"/>
            <a:ext cx="2266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Release kontrolü</a:t>
            </a:r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02335013-12BA-453B-8805-864B658DAB66}"/>
              </a:ext>
            </a:extLst>
          </p:cNvPr>
          <p:cNvSpPr>
            <a:spLocks noGrp="1"/>
          </p:cNvSpPr>
          <p:nvPr/>
        </p:nvSpPr>
        <p:spPr>
          <a:xfrm>
            <a:off x="9029700" y="4324350"/>
            <a:ext cx="2571750" cy="1028700"/>
          </a:xfrm>
          <a:prstGeom prst="rect">
            <a:avLst/>
          </a:prstGeom>
          <a:solidFill>
            <a:srgbClr val="FCE8B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F030E70D-7642-4C3F-A820-A64851CF568A}"/>
              </a:ext>
            </a:extLst>
          </p:cNvPr>
          <p:cNvSpPr>
            <a:spLocks noGrp="1"/>
          </p:cNvSpPr>
          <p:nvPr/>
        </p:nvSpPr>
        <p:spPr>
          <a:xfrm>
            <a:off x="9182100" y="444817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G-SIM-12 GM release</a:t>
            </a:r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499C0FC0-E072-4682-9FA4-EE262166A71E}"/>
              </a:ext>
            </a:extLst>
          </p:cNvPr>
          <p:cNvSpPr>
            <a:spLocks noGrp="1"/>
          </p:cNvSpPr>
          <p:nvPr/>
        </p:nvSpPr>
        <p:spPr>
          <a:xfrm>
            <a:off x="9182100" y="4781550"/>
            <a:ext cx="2266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Release kontrolü</a:t>
            </a: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DC328269-8BF2-44C3-9432-C7396E352794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11391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652"/>
          </a:bodyPr>
          <a:lstStyle/>
          <a:p>
            <a:pPr algn="ctr">
              <a:defRPr sz="1725" b="1">
                <a:solidFill>
                  <a:srgbClr val="7251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25100"/>
                </a:solidFill>
                <a:latin typeface="Arial"/>
                <a:ea typeface="Arial"/>
                <a:cs typeface="Arial"/>
              </a:rPr>
              <a:t>SIM-001.01 = tasarım tamam. RUN = HOLD; çünkü imza ve gate PASS ayrı bir yönetim kararıdır.</a:t>
            </a:r>
          </a:p>
        </p:txBody>
      </p:sp>
    </p:spTree>
    <p:extLst>
      <p:ext uri="{BB962C8B-B14F-4D97-AF65-F5344CB8AC3E}">
        <p14:creationId xmlns:p14="http://schemas.microsoft.com/office/powerpoint/2010/main" val="387920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Dikdörtgen 34">
            <a:extLst>
              <a:ext uri="{FF2B5EF4-FFF2-40B4-BE49-F238E27FC236}">
                <a16:creationId xmlns:a16="http://schemas.microsoft.com/office/drawing/2014/main" id="{2676E392-A054-4D07-B0D2-870BF74CE96C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15F927C-E8B3-4FE7-BCA6-B7DEBBF214E6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 operasyon kapısı bir malzemeyi kanıta dönüştürür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C70318A9-9777-4E8D-B95D-153E64DEF43F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1E6C5F1-D947-4ACC-87F4-419768B2954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D9CF3995-CD8F-419A-A4E6-697FD4010B05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1905000" cy="11430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6D0A5A67-D5B9-402A-9C79-898272BC5498}"/>
              </a:ext>
            </a:extLst>
          </p:cNvPr>
          <p:cNvSpPr>
            <a:spLocks noGrp="1"/>
          </p:cNvSpPr>
          <p:nvPr/>
        </p:nvSpPr>
        <p:spPr>
          <a:xfrm>
            <a:off x="552450" y="1876425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O-G01 İhtiyaç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6C13364-6DA1-43DD-9944-284662F5F251}"/>
              </a:ext>
            </a:extLst>
          </p:cNvPr>
          <p:cNvSpPr>
            <a:spLocks noGrp="1"/>
          </p:cNvSpPr>
          <p:nvPr/>
        </p:nvSpPr>
        <p:spPr>
          <a:xfrm>
            <a:off x="552450" y="2209800"/>
            <a:ext cx="1600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Satın alma / giriş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40212C1-2332-4F57-895A-2B329DD307CA}"/>
              </a:ext>
            </a:extLst>
          </p:cNvPr>
          <p:cNvSpPr>
            <a:spLocks noGrp="1"/>
          </p:cNvSpPr>
          <p:nvPr/>
        </p:nvSpPr>
        <p:spPr>
          <a:xfrm>
            <a:off x="2686050" y="1752600"/>
            <a:ext cx="1905000" cy="11430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A87F849E-6ED5-4A02-AB94-FBEC7FBDF432}"/>
              </a:ext>
            </a:extLst>
          </p:cNvPr>
          <p:cNvSpPr>
            <a:spLocks noGrp="1"/>
          </p:cNvSpPr>
          <p:nvPr/>
        </p:nvSpPr>
        <p:spPr>
          <a:xfrm>
            <a:off x="2838450" y="1876425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O-G02 Tedarikçi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34A588C7-5D95-48AD-A268-D5EB95C8B1C9}"/>
              </a:ext>
            </a:extLst>
          </p:cNvPr>
          <p:cNvSpPr>
            <a:spLocks noGrp="1"/>
          </p:cNvSpPr>
          <p:nvPr/>
        </p:nvSpPr>
        <p:spPr>
          <a:xfrm>
            <a:off x="2838450" y="2209800"/>
            <a:ext cx="1600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Satın alma / giriş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81FA8ED4-64EC-42B9-A1F7-ED7B8831C8A5}"/>
              </a:ext>
            </a:extLst>
          </p:cNvPr>
          <p:cNvSpPr>
            <a:spLocks noGrp="1"/>
          </p:cNvSpPr>
          <p:nvPr/>
        </p:nvSpPr>
        <p:spPr>
          <a:xfrm>
            <a:off x="4972050" y="1752600"/>
            <a:ext cx="1905000" cy="11430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C0AE44DF-C3C3-40C8-8399-C86DEA4B0128}"/>
              </a:ext>
            </a:extLst>
          </p:cNvPr>
          <p:cNvSpPr>
            <a:spLocks noGrp="1"/>
          </p:cNvSpPr>
          <p:nvPr/>
        </p:nvSpPr>
        <p:spPr>
          <a:xfrm>
            <a:off x="5124450" y="1876425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O-G03 RFQ/PO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F19EE3D5-77B4-49F9-A9D2-AE12EF3A8674}"/>
              </a:ext>
            </a:extLst>
          </p:cNvPr>
          <p:cNvSpPr>
            <a:spLocks noGrp="1"/>
          </p:cNvSpPr>
          <p:nvPr/>
        </p:nvSpPr>
        <p:spPr>
          <a:xfrm>
            <a:off x="5124450" y="2209800"/>
            <a:ext cx="1600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Satın alma / giriş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3590F1AD-F1C2-43CC-A9DE-B43C8A20554C}"/>
              </a:ext>
            </a:extLst>
          </p:cNvPr>
          <p:cNvSpPr>
            <a:spLocks noGrp="1"/>
          </p:cNvSpPr>
          <p:nvPr/>
        </p:nvSpPr>
        <p:spPr>
          <a:xfrm>
            <a:off x="7258050" y="1752600"/>
            <a:ext cx="1905000" cy="11430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821FEE69-AD5B-4E84-A3E4-9D9379920019}"/>
              </a:ext>
            </a:extLst>
          </p:cNvPr>
          <p:cNvSpPr>
            <a:spLocks noGrp="1"/>
          </p:cNvSpPr>
          <p:nvPr/>
        </p:nvSpPr>
        <p:spPr>
          <a:xfrm>
            <a:off x="7410450" y="1876425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O-G04 Karantina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FCEF06D8-7378-4D75-9071-7146AD29D46D}"/>
              </a:ext>
            </a:extLst>
          </p:cNvPr>
          <p:cNvSpPr>
            <a:spLocks noGrp="1"/>
          </p:cNvSpPr>
          <p:nvPr/>
        </p:nvSpPr>
        <p:spPr>
          <a:xfrm>
            <a:off x="7410450" y="2209800"/>
            <a:ext cx="1600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Satın alma / giriş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B3AC9196-5C3F-4B11-B613-19F0C85CEBFD}"/>
              </a:ext>
            </a:extLst>
          </p:cNvPr>
          <p:cNvSpPr>
            <a:spLocks noGrp="1"/>
          </p:cNvSpPr>
          <p:nvPr/>
        </p:nvSpPr>
        <p:spPr>
          <a:xfrm>
            <a:off x="9544050" y="1752600"/>
            <a:ext cx="1905000" cy="114300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297C1282-5563-4FC0-A528-7430F6AEA18C}"/>
              </a:ext>
            </a:extLst>
          </p:cNvPr>
          <p:cNvSpPr>
            <a:spLocks noGrp="1"/>
          </p:cNvSpPr>
          <p:nvPr/>
        </p:nvSpPr>
        <p:spPr>
          <a:xfrm>
            <a:off x="9696450" y="1876425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303"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O-G05 Giriş release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8DFACF56-0B10-4B41-8E7A-FA6489ADDA4C}"/>
              </a:ext>
            </a:extLst>
          </p:cNvPr>
          <p:cNvSpPr>
            <a:spLocks noGrp="1"/>
          </p:cNvSpPr>
          <p:nvPr/>
        </p:nvSpPr>
        <p:spPr>
          <a:xfrm>
            <a:off x="9696450" y="2209800"/>
            <a:ext cx="1600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Satın alma / giriş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3F3D5396-3BA8-4CF9-AA73-8DB214DEFAA0}"/>
              </a:ext>
            </a:extLst>
          </p:cNvPr>
          <p:cNvSpPr>
            <a:spLocks noGrp="1"/>
          </p:cNvSpPr>
          <p:nvPr/>
        </p:nvSpPr>
        <p:spPr>
          <a:xfrm>
            <a:off x="400050" y="4038600"/>
            <a:ext cx="1905000" cy="11430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C5B84E71-DCD9-4FDA-B398-08CD802F4E10}"/>
              </a:ext>
            </a:extLst>
          </p:cNvPr>
          <p:cNvSpPr>
            <a:spLocks noGrp="1"/>
          </p:cNvSpPr>
          <p:nvPr/>
        </p:nvSpPr>
        <p:spPr>
          <a:xfrm>
            <a:off x="552450" y="4162425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O-G06 Issue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EA72CDC-2918-42A3-B78A-818F7113EBA4}"/>
              </a:ext>
            </a:extLst>
          </p:cNvPr>
          <p:cNvSpPr>
            <a:spLocks noGrp="1"/>
          </p:cNvSpPr>
          <p:nvPr/>
        </p:nvSpPr>
        <p:spPr>
          <a:xfrm>
            <a:off x="552450" y="4495800"/>
            <a:ext cx="1600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Operasyon / kanıt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CA5BB6D1-9E3E-4AD7-AF51-DA566F5828FC}"/>
              </a:ext>
            </a:extLst>
          </p:cNvPr>
          <p:cNvSpPr>
            <a:spLocks noGrp="1"/>
          </p:cNvSpPr>
          <p:nvPr/>
        </p:nvSpPr>
        <p:spPr>
          <a:xfrm>
            <a:off x="2686050" y="4038600"/>
            <a:ext cx="1905000" cy="11430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AF769711-8689-4215-BACB-ECA55BE3BCD4}"/>
              </a:ext>
            </a:extLst>
          </p:cNvPr>
          <p:cNvSpPr>
            <a:spLocks noGrp="1"/>
          </p:cNvSpPr>
          <p:nvPr/>
        </p:nvSpPr>
        <p:spPr>
          <a:xfrm>
            <a:off x="2838450" y="4162425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O-G07 Batch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C79510F3-62D8-4E28-ABEB-4029F7E16124}"/>
              </a:ext>
            </a:extLst>
          </p:cNvPr>
          <p:cNvSpPr>
            <a:spLocks noGrp="1"/>
          </p:cNvSpPr>
          <p:nvPr/>
        </p:nvSpPr>
        <p:spPr>
          <a:xfrm>
            <a:off x="2838450" y="4495800"/>
            <a:ext cx="1600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Operasyon / kanıt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9C42BC53-50BC-47C0-94A8-4F6B4B3FC01E}"/>
              </a:ext>
            </a:extLst>
          </p:cNvPr>
          <p:cNvSpPr>
            <a:spLocks noGrp="1"/>
          </p:cNvSpPr>
          <p:nvPr/>
        </p:nvSpPr>
        <p:spPr>
          <a:xfrm>
            <a:off x="4972050" y="4038600"/>
            <a:ext cx="1905000" cy="114300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AD0296AB-EEC8-4DA1-92F2-5749BA7CD9F7}"/>
              </a:ext>
            </a:extLst>
          </p:cNvPr>
          <p:cNvSpPr>
            <a:spLocks noGrp="1"/>
          </p:cNvSpPr>
          <p:nvPr/>
        </p:nvSpPr>
        <p:spPr>
          <a:xfrm>
            <a:off x="5124450" y="4162425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O-G08 QC/QA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B71FEC2-CE3D-4F75-B3C6-CA9FFEB46787}"/>
              </a:ext>
            </a:extLst>
          </p:cNvPr>
          <p:cNvSpPr>
            <a:spLocks noGrp="1"/>
          </p:cNvSpPr>
          <p:nvPr/>
        </p:nvSpPr>
        <p:spPr>
          <a:xfrm>
            <a:off x="5124450" y="4495800"/>
            <a:ext cx="1600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Operasyon / kanıt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CB7B8130-2782-4DB9-B6FA-392F9D18136C}"/>
              </a:ext>
            </a:extLst>
          </p:cNvPr>
          <p:cNvSpPr>
            <a:spLocks noGrp="1"/>
          </p:cNvSpPr>
          <p:nvPr/>
        </p:nvSpPr>
        <p:spPr>
          <a:xfrm>
            <a:off x="7258050" y="4038600"/>
            <a:ext cx="1905000" cy="11430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9B9D0F6C-276C-417F-9294-D97B8DD532FC}"/>
              </a:ext>
            </a:extLst>
          </p:cNvPr>
          <p:cNvSpPr>
            <a:spLocks noGrp="1"/>
          </p:cNvSpPr>
          <p:nvPr/>
        </p:nvSpPr>
        <p:spPr>
          <a:xfrm>
            <a:off x="7410450" y="4162425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O-G09 Dispatch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CF9AEEC0-76E0-4C1B-86AC-16B2EA6448F7}"/>
              </a:ext>
            </a:extLst>
          </p:cNvPr>
          <p:cNvSpPr>
            <a:spLocks noGrp="1"/>
          </p:cNvSpPr>
          <p:nvPr/>
        </p:nvSpPr>
        <p:spPr>
          <a:xfrm>
            <a:off x="7410450" y="4495800"/>
            <a:ext cx="1600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Operasyon / kanıt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CD2696DF-9674-4761-A08E-FCD97A3352DF}"/>
              </a:ext>
            </a:extLst>
          </p:cNvPr>
          <p:cNvSpPr>
            <a:spLocks noGrp="1"/>
          </p:cNvSpPr>
          <p:nvPr/>
        </p:nvSpPr>
        <p:spPr>
          <a:xfrm>
            <a:off x="9544050" y="4038600"/>
            <a:ext cx="1905000" cy="11430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87CA8562-980C-4603-85D6-F334893ED7A9}"/>
              </a:ext>
            </a:extLst>
          </p:cNvPr>
          <p:cNvSpPr>
            <a:spLocks noGrp="1"/>
          </p:cNvSpPr>
          <p:nvPr/>
        </p:nvSpPr>
        <p:spPr>
          <a:xfrm>
            <a:off x="9696450" y="4162425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O-G10 Retrieval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5BE2250E-EFCF-49A5-B2B1-4C137B37E3AA}"/>
              </a:ext>
            </a:extLst>
          </p:cNvPr>
          <p:cNvSpPr>
            <a:spLocks noGrp="1"/>
          </p:cNvSpPr>
          <p:nvPr/>
        </p:nvSpPr>
        <p:spPr>
          <a:xfrm>
            <a:off x="9696450" y="4495800"/>
            <a:ext cx="1600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Operasyon / kanıt</a:t>
            </a:r>
          </a:p>
        </p:txBody>
      </p:sp>
      <p:cxnSp>
        <p:nvCxnSpPr>
          <p:cNvPr id="79" name="Düz Ok Bağlayıcısı 78"/>
          <p:cNvCxnSpPr>
            <a:stCxn id="5" idx="3"/>
            <a:endCxn id="8" idx="1"/>
          </p:cNvCxnSpPr>
          <p:nvPr/>
        </p:nvCxnSpPr>
        <p:spPr>
          <a:xfrm>
            <a:off x="2305050" y="2324100"/>
            <a:ext cx="381000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80" name="Düz Ok Bağlayıcısı 79"/>
          <p:cNvCxnSpPr>
            <a:stCxn id="8" idx="3"/>
            <a:endCxn id="11" idx="1"/>
          </p:cNvCxnSpPr>
          <p:nvPr/>
        </p:nvCxnSpPr>
        <p:spPr>
          <a:xfrm>
            <a:off x="4591050" y="2324100"/>
            <a:ext cx="381000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81" name="Düz Ok Bağlayıcısı 80"/>
          <p:cNvCxnSpPr>
            <a:stCxn id="11" idx="3"/>
            <a:endCxn id="14" idx="1"/>
          </p:cNvCxnSpPr>
          <p:nvPr/>
        </p:nvCxnSpPr>
        <p:spPr>
          <a:xfrm>
            <a:off x="6877050" y="2324100"/>
            <a:ext cx="381000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82" name="Düz Ok Bağlayıcısı 81"/>
          <p:cNvCxnSpPr>
            <a:stCxn id="14" idx="3"/>
            <a:endCxn id="17" idx="1"/>
          </p:cNvCxnSpPr>
          <p:nvPr/>
        </p:nvCxnSpPr>
        <p:spPr>
          <a:xfrm>
            <a:off x="9163050" y="2324100"/>
            <a:ext cx="381000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83" name="Düz Ok Bağlayıcısı 82"/>
          <p:cNvCxnSpPr>
            <a:stCxn id="20" idx="3"/>
            <a:endCxn id="23" idx="1"/>
          </p:cNvCxnSpPr>
          <p:nvPr/>
        </p:nvCxnSpPr>
        <p:spPr>
          <a:xfrm>
            <a:off x="2305050" y="4610100"/>
            <a:ext cx="381000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84" name="Düz Ok Bağlayıcısı 83"/>
          <p:cNvCxnSpPr>
            <a:stCxn id="23" idx="3"/>
            <a:endCxn id="26" idx="1"/>
          </p:cNvCxnSpPr>
          <p:nvPr/>
        </p:nvCxnSpPr>
        <p:spPr>
          <a:xfrm>
            <a:off x="4591050" y="4610100"/>
            <a:ext cx="381000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85" name="Düz Ok Bağlayıcısı 84"/>
          <p:cNvCxnSpPr>
            <a:stCxn id="26" idx="3"/>
            <a:endCxn id="29" idx="1"/>
          </p:cNvCxnSpPr>
          <p:nvPr/>
        </p:nvCxnSpPr>
        <p:spPr>
          <a:xfrm>
            <a:off x="6877050" y="4610100"/>
            <a:ext cx="381000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86" name="Düz Ok Bağlayıcısı 85"/>
          <p:cNvCxnSpPr>
            <a:stCxn id="29" idx="3"/>
            <a:endCxn id="32" idx="1"/>
          </p:cNvCxnSpPr>
          <p:nvPr/>
        </p:nvCxnSpPr>
        <p:spPr>
          <a:xfrm>
            <a:off x="9163050" y="4610100"/>
            <a:ext cx="381000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87" name="Bağlayıcı: Dirsek 86"/>
          <p:cNvCxnSpPr>
            <a:stCxn id="17" idx="2"/>
            <a:endCxn id="20" idx="0"/>
          </p:cNvCxnSpPr>
          <p:nvPr/>
        </p:nvCxnSpPr>
        <p:spPr>
          <a:xfrm flipH="1">
            <a:off x="1352550" y="2895600"/>
            <a:ext cx="9144000" cy="1143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sp>
        <p:nvSpPr>
          <p:cNvPr id="44" name="Dikdörtgen 43">
            <a:extLst>
              <a:ext uri="{FF2B5EF4-FFF2-40B4-BE49-F238E27FC236}">
                <a16:creationId xmlns:a16="http://schemas.microsoft.com/office/drawing/2014/main" id="{14552182-40BD-460A-AD07-F3D098352116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1391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Her geçişte üç soruyu sor: kayıt tamam mı? yetkili karar var mı? downstream link oluştu mu?</a:t>
            </a:r>
          </a:p>
        </p:txBody>
      </p:sp>
    </p:spTree>
    <p:extLst>
      <p:ext uri="{BB962C8B-B14F-4D97-AF65-F5344CB8AC3E}">
        <p14:creationId xmlns:p14="http://schemas.microsoft.com/office/powerpoint/2010/main" val="1781551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ikdörtgen 14">
            <a:extLst>
              <a:ext uri="{FF2B5EF4-FFF2-40B4-BE49-F238E27FC236}">
                <a16:creationId xmlns:a16="http://schemas.microsoft.com/office/drawing/2014/main" id="{6A9A0A61-21D2-403D-A199-F7858FDA3EE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50CE6316-9548-45E8-8561-136C1C6C0987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Satın alma fiyatla değil, tanımlı şartla başlar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937A2E54-B4A1-4CCA-9753-B7E4AB4A0B7B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34941455-71CF-48EA-9682-89B7BFF7DB42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DB2797B6-C141-4A1B-A885-61486BEBDCA6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3429000" cy="37147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DEB21B18-AD4C-445E-8863-7E58BA4608C8}"/>
              </a:ext>
            </a:extLst>
          </p:cNvPr>
          <p:cNvSpPr>
            <a:spLocks noGrp="1"/>
          </p:cNvSpPr>
          <p:nvPr/>
        </p:nvSpPr>
        <p:spPr>
          <a:xfrm>
            <a:off x="552450" y="1743075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833"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O-G01 | Malzeme master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8FE2EB2A-D484-4EDA-A440-4C5F07AC45E2}"/>
              </a:ext>
            </a:extLst>
          </p:cNvPr>
          <p:cNvSpPr>
            <a:spLocks noGrp="1"/>
          </p:cNvSpPr>
          <p:nvPr/>
        </p:nvSpPr>
        <p:spPr>
          <a:xfrm>
            <a:off x="552450" y="2076450"/>
            <a:ext cx="312420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Teknik karakteristik</a:t>
            </a:r>
          </a:p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Kabul testi</a:t>
            </a:r>
          </a:p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SDS / CoA</a:t>
            </a:r>
          </a:p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Depolama ve izlenebilirlik</a:t>
            </a:r>
          </a:p>
          <a:p>
            <a:endParaRPr sz="1425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Kayıt: SCM-MST-MAT-001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E11AACEF-A4E8-46B5-B1F6-1D9D59446C77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3429000" cy="371475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DA35FB18-4949-4087-A521-9DB07F23E93C}"/>
              </a:ext>
            </a:extLst>
          </p:cNvPr>
          <p:cNvSpPr>
            <a:spLocks noGrp="1"/>
          </p:cNvSpPr>
          <p:nvPr/>
        </p:nvSpPr>
        <p:spPr>
          <a:xfrm>
            <a:off x="4533900" y="1743075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833"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O-G02 | Supplier / ASL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7AB9E5BC-52C0-4CE3-911B-1C9EB6B76562}"/>
              </a:ext>
            </a:extLst>
          </p:cNvPr>
          <p:cNvSpPr>
            <a:spLocks noGrp="1"/>
          </p:cNvSpPr>
          <p:nvPr/>
        </p:nvSpPr>
        <p:spPr>
          <a:xfrm>
            <a:off x="4533900" y="2076450"/>
            <a:ext cx="312420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Prequalification</a:t>
            </a:r>
          </a:p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Risk</a:t>
            </a:r>
          </a:p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Qualification / audit</a:t>
            </a:r>
          </a:p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First-lot approval</a:t>
            </a:r>
          </a:p>
          <a:p>
            <a:endParaRPr sz="1425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Kayıt: SUP-001…005 + ASL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546C2525-630F-478F-B538-679073F57109}"/>
              </a:ext>
            </a:extLst>
          </p:cNvPr>
          <p:cNvSpPr>
            <a:spLocks noGrp="1"/>
          </p:cNvSpPr>
          <p:nvPr/>
        </p:nvSpPr>
        <p:spPr>
          <a:xfrm>
            <a:off x="8362950" y="1619250"/>
            <a:ext cx="3429000" cy="37147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CB628C43-2D89-4C10-980B-C4F87D0F4828}"/>
              </a:ext>
            </a:extLst>
          </p:cNvPr>
          <p:cNvSpPr>
            <a:spLocks noGrp="1"/>
          </p:cNvSpPr>
          <p:nvPr/>
        </p:nvSpPr>
        <p:spPr>
          <a:xfrm>
            <a:off x="8515350" y="1743075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833"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O-G03 | RFQ / PO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661F96E4-8568-44E2-8A79-59BB0B90EF50}"/>
              </a:ext>
            </a:extLst>
          </p:cNvPr>
          <p:cNvSpPr>
            <a:spLocks noGrp="1"/>
          </p:cNvSpPr>
          <p:nvPr/>
        </p:nvSpPr>
        <p:spPr>
          <a:xfrm>
            <a:off x="8515350" y="2076450"/>
            <a:ext cx="312420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Teknik revizyon</a:t>
            </a:r>
          </a:p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CoA / lot / test</a:t>
            </a:r>
          </a:p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Change notification</a:t>
            </a:r>
          </a:p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HSE / Legal clauses</a:t>
            </a:r>
          </a:p>
          <a:p>
            <a:endParaRPr sz="1425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Kayıt: SCM-CHK-PO-001 + POC-001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69C57AF4-C949-41EE-99D0-BDF663F36E70}"/>
              </a:ext>
            </a:extLst>
          </p:cNvPr>
          <p:cNvSpPr>
            <a:spLocks noGrp="1"/>
          </p:cNvSpPr>
          <p:nvPr/>
        </p:nvSpPr>
        <p:spPr>
          <a:xfrm>
            <a:off x="762000" y="567690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RFQ ve PO işlem kayıtlarıdır; kontrollü checklist ve clause matrix şartların eksiksizliğini güvenceye alır.</a:t>
            </a:r>
          </a:p>
        </p:txBody>
      </p:sp>
    </p:spTree>
    <p:extLst>
      <p:ext uri="{BB962C8B-B14F-4D97-AF65-F5344CB8AC3E}">
        <p14:creationId xmlns:p14="http://schemas.microsoft.com/office/powerpoint/2010/main" val="5971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kdörtgen 19">
            <a:extLst>
              <a:ext uri="{FF2B5EF4-FFF2-40B4-BE49-F238E27FC236}">
                <a16:creationId xmlns:a16="http://schemas.microsoft.com/office/drawing/2014/main" id="{CFDF8C06-6550-45D1-A420-978059AAE4C3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7C3D0275-996B-4211-BE6B-7B242F852F46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Teslim almak release etmek değildir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B118833C-721C-44AA-A6CF-A40970DA3C6A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E9D567D-2850-44FB-AD65-4338FFD9F71A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DA1B4E50-79D5-4FC0-AE20-5BD3934AA526}"/>
              </a:ext>
            </a:extLst>
          </p:cNvPr>
          <p:cNvSpPr>
            <a:spLocks noGrp="1"/>
          </p:cNvSpPr>
          <p:nvPr/>
        </p:nvSpPr>
        <p:spPr>
          <a:xfrm>
            <a:off x="571500" y="2095500"/>
            <a:ext cx="1905000" cy="12382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61A3E8D3-BCCF-4554-A4E8-2EB6FC1C1936}"/>
              </a:ext>
            </a:extLst>
          </p:cNvPr>
          <p:cNvSpPr>
            <a:spLocks noGrp="1"/>
          </p:cNvSpPr>
          <p:nvPr/>
        </p:nvSpPr>
        <p:spPr>
          <a:xfrm>
            <a:off x="723900" y="2219325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Araç sahaya gelir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AEE275FF-96A0-4055-A1CB-8E93B18D5B93}"/>
              </a:ext>
            </a:extLst>
          </p:cNvPr>
          <p:cNvSpPr>
            <a:spLocks noGrp="1"/>
          </p:cNvSpPr>
          <p:nvPr/>
        </p:nvSpPr>
        <p:spPr>
          <a:xfrm>
            <a:off x="723900" y="2552700"/>
            <a:ext cx="1600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 / irsaliye / etiket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48366CB-2A91-4907-B6D8-9322D58DD3F9}"/>
              </a:ext>
            </a:extLst>
          </p:cNvPr>
          <p:cNvSpPr>
            <a:spLocks noGrp="1"/>
          </p:cNvSpPr>
          <p:nvPr/>
        </p:nvSpPr>
        <p:spPr>
          <a:xfrm>
            <a:off x="3000375" y="2095500"/>
            <a:ext cx="1905000" cy="12382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726CA131-8F43-488B-8663-433A94A36F04}"/>
              </a:ext>
            </a:extLst>
          </p:cNvPr>
          <p:cNvSpPr>
            <a:spLocks noGrp="1"/>
          </p:cNvSpPr>
          <p:nvPr/>
        </p:nvSpPr>
        <p:spPr>
          <a:xfrm>
            <a:off x="3152775" y="2219325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Depo kaydı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744C216A-0199-4EE0-865A-BF66CA6A6A43}"/>
              </a:ext>
            </a:extLst>
          </p:cNvPr>
          <p:cNvSpPr>
            <a:spLocks noGrp="1"/>
          </p:cNvSpPr>
          <p:nvPr/>
        </p:nvSpPr>
        <p:spPr>
          <a:xfrm>
            <a:off x="3152775" y="2552700"/>
            <a:ext cx="1600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WHS-FRM-001</a:t>
            </a:r>
          </a:p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Lot ID + condition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096BD393-F5CF-41FD-8373-EBB7E1829AA5}"/>
              </a:ext>
            </a:extLst>
          </p:cNvPr>
          <p:cNvSpPr>
            <a:spLocks noGrp="1"/>
          </p:cNvSpPr>
          <p:nvPr/>
        </p:nvSpPr>
        <p:spPr>
          <a:xfrm>
            <a:off x="5429250" y="2095500"/>
            <a:ext cx="1905000" cy="1238250"/>
          </a:xfrm>
          <a:prstGeom prst="rect">
            <a:avLst/>
          </a:prstGeom>
          <a:solidFill>
            <a:srgbClr val="FCE8B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98715C90-C72C-4E9D-9988-778C71C686D4}"/>
              </a:ext>
            </a:extLst>
          </p:cNvPr>
          <p:cNvSpPr>
            <a:spLocks noGrp="1"/>
          </p:cNvSpPr>
          <p:nvPr/>
        </p:nvSpPr>
        <p:spPr>
          <a:xfrm>
            <a:off x="5581650" y="2219325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QUARANTINE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CCC7F212-0062-429B-A30B-CB0035BA640B}"/>
              </a:ext>
            </a:extLst>
          </p:cNvPr>
          <p:cNvSpPr>
            <a:spLocks noGrp="1"/>
          </p:cNvSpPr>
          <p:nvPr/>
        </p:nvSpPr>
        <p:spPr>
          <a:xfrm>
            <a:off x="5581650" y="2552700"/>
            <a:ext cx="1600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Fiziksel ayrım</a:t>
            </a:r>
          </a:p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Üretime issue yasak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08B86E4E-3F41-494E-8C8B-29E78C85DC92}"/>
              </a:ext>
            </a:extLst>
          </p:cNvPr>
          <p:cNvSpPr>
            <a:spLocks noGrp="1"/>
          </p:cNvSpPr>
          <p:nvPr/>
        </p:nvSpPr>
        <p:spPr>
          <a:xfrm>
            <a:off x="7858125" y="2095500"/>
            <a:ext cx="1905000" cy="123825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2FFC7234-B332-45FA-B9F0-DCBD222CC159}"/>
              </a:ext>
            </a:extLst>
          </p:cNvPr>
          <p:cNvSpPr>
            <a:spLocks noGrp="1"/>
          </p:cNvSpPr>
          <p:nvPr/>
        </p:nvSpPr>
        <p:spPr>
          <a:xfrm>
            <a:off x="8010525" y="2219325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QC / CoA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0C3686D8-D6B2-4B21-8D4B-5B854641791B}"/>
              </a:ext>
            </a:extLst>
          </p:cNvPr>
          <p:cNvSpPr>
            <a:spLocks noGrp="1"/>
          </p:cNvSpPr>
          <p:nvPr/>
        </p:nvSpPr>
        <p:spPr>
          <a:xfrm>
            <a:off x="8010525" y="2552700"/>
            <a:ext cx="1600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SMP-001</a:t>
            </a:r>
          </a:p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REL-005</a:t>
            </a:r>
          </a:p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INC-001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10CB9A1C-1971-429F-AF70-530086DAEE4B}"/>
              </a:ext>
            </a:extLst>
          </p:cNvPr>
          <p:cNvSpPr>
            <a:spLocks noGrp="1"/>
          </p:cNvSpPr>
          <p:nvPr/>
        </p:nvSpPr>
        <p:spPr>
          <a:xfrm>
            <a:off x="10287000" y="2095500"/>
            <a:ext cx="1524000" cy="1238250"/>
          </a:xfrm>
          <a:prstGeom prst="rect">
            <a:avLst/>
          </a:prstGeom>
          <a:solidFill>
            <a:srgbClr val="D9EAD3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909CDCAC-0AB3-474E-8B95-2B58441B365E}"/>
              </a:ext>
            </a:extLst>
          </p:cNvPr>
          <p:cNvSpPr>
            <a:spLocks noGrp="1"/>
          </p:cNvSpPr>
          <p:nvPr/>
        </p:nvSpPr>
        <p:spPr>
          <a:xfrm>
            <a:off x="10439400" y="2219325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QA lot kararı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220CE6AC-B457-467A-ADA6-59FC8912E9F3}"/>
              </a:ext>
            </a:extLst>
          </p:cNvPr>
          <p:cNvSpPr>
            <a:spLocks noGrp="1"/>
          </p:cNvSpPr>
          <p:nvPr/>
        </p:nvSpPr>
        <p:spPr>
          <a:xfrm>
            <a:off x="10439400" y="2552700"/>
            <a:ext cx="1219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777"/>
          </a:bodyPr>
          <a:lstStyle/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REL-002</a:t>
            </a:r>
          </a:p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ACCEPT / HOLD / REJECT</a:t>
            </a:r>
          </a:p>
        </p:txBody>
      </p:sp>
      <p:cxnSp>
        <p:nvCxnSpPr>
          <p:cNvPr id="44" name="Düz Ok Bağlayıcısı 43"/>
          <p:cNvCxnSpPr>
            <a:stCxn id="5" idx="3"/>
            <a:endCxn id="8" idx="1"/>
          </p:cNvCxnSpPr>
          <p:nvPr/>
        </p:nvCxnSpPr>
        <p:spPr>
          <a:xfrm>
            <a:off x="2476500" y="2714625"/>
            <a:ext cx="523875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45" name="Düz Ok Bağlayıcısı 44"/>
          <p:cNvCxnSpPr>
            <a:stCxn id="8" idx="3"/>
            <a:endCxn id="11" idx="1"/>
          </p:cNvCxnSpPr>
          <p:nvPr/>
        </p:nvCxnSpPr>
        <p:spPr>
          <a:xfrm>
            <a:off x="4905375" y="2714625"/>
            <a:ext cx="523875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46" name="Düz Ok Bağlayıcısı 45"/>
          <p:cNvCxnSpPr>
            <a:stCxn id="11" idx="3"/>
            <a:endCxn id="14" idx="1"/>
          </p:cNvCxnSpPr>
          <p:nvPr/>
        </p:nvCxnSpPr>
        <p:spPr>
          <a:xfrm>
            <a:off x="7334250" y="2714625"/>
            <a:ext cx="523875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47" name="Düz Ok Bağlayıcısı 46"/>
          <p:cNvCxnSpPr>
            <a:stCxn id="14" idx="3"/>
            <a:endCxn id="17" idx="1"/>
          </p:cNvCxnSpPr>
          <p:nvPr/>
        </p:nvCxnSpPr>
        <p:spPr>
          <a:xfrm>
            <a:off x="9763125" y="2714625"/>
            <a:ext cx="523875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graphicFrame>
        <p:nvGraphicFramePr>
          <p:cNvPr id="48" name="Tablo 47"/>
          <p:cNvGraphicFramePr/>
          <p:nvPr/>
        </p:nvGraphicFramePr>
        <p:xfrm>
          <a:off x="1238250" y="4171950"/>
          <a:ext cx="9715500" cy="1428752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1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Rol</a:t>
                      </a:r>
                    </a:p>
                  </a:txBody>
                  <a:tcPr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Tuttuğu kayıt</a:t>
                      </a:r>
                    </a:p>
                  </a:txBody>
                  <a:tcPr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Veremeyeceği karar</a:t>
                      </a:r>
                    </a:p>
                  </a:txBody>
                  <a:tcPr>
                    <a:solidFill>
                      <a:srgbClr val="D0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Miktar, hasar, lot, konum, karantina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Kalite ACCEPT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QC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Numune, CoA review, test/inspection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Yetkisiz final release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Lot status &amp; 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Kaynak veriyi değiştirme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583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ikdörtgen 21">
            <a:extLst>
              <a:ext uri="{FF2B5EF4-FFF2-40B4-BE49-F238E27FC236}">
                <a16:creationId xmlns:a16="http://schemas.microsoft.com/office/drawing/2014/main" id="{DEAA6AC4-F488-43EB-8B32-54F9C646DB7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1D030A34-6F81-479C-8FB9-3D9111918F4A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Released lot batch'e kontrollü hareketle bağlanır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B91F42E-37FF-4BAF-940A-F50B0A5EB7D8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C200CC8A-0C7D-4075-AD6B-80C829B6441E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36AF765F-07EE-4567-99AA-A807C18BF859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2762250" cy="285750"/>
          </a:xfrm>
          <a:prstGeom prst="rect">
            <a:avLst/>
          </a:prstGeom>
          <a:solidFill>
            <a:srgbClr val="D0EDFA"/>
          </a:solidFill>
          <a:ln w="9525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C91C7EEA-6ECB-4FCC-9BC0-AAE4013338A7}"/>
              </a:ext>
            </a:extLst>
          </p:cNvPr>
          <p:cNvSpPr>
            <a:spLocks noGrp="1"/>
          </p:cNvSpPr>
          <p:nvPr/>
        </p:nvSpPr>
        <p:spPr>
          <a:xfrm>
            <a:off x="495300" y="1609725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7778"/>
          </a:bodyPr>
          <a:lstStyle/>
          <a:p>
            <a:pPr algn="l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O-G06 | STORAGE &amp; ISSUE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CEDF4E94-66CC-470B-A225-90B40204440D}"/>
              </a:ext>
            </a:extLst>
          </p:cNvPr>
          <p:cNvSpPr>
            <a:spLocks noGrp="1"/>
          </p:cNvSpPr>
          <p:nvPr/>
        </p:nvSpPr>
        <p:spPr>
          <a:xfrm>
            <a:off x="6267450" y="1562100"/>
            <a:ext cx="3143250" cy="285750"/>
          </a:xfrm>
          <a:prstGeom prst="rect">
            <a:avLst/>
          </a:prstGeom>
          <a:solidFill>
            <a:srgbClr val="D0EDFA"/>
          </a:solidFill>
          <a:ln w="9525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5F01C2FF-F3E5-456C-9611-FDED1C91DB7C}"/>
              </a:ext>
            </a:extLst>
          </p:cNvPr>
          <p:cNvSpPr>
            <a:spLocks noGrp="1"/>
          </p:cNvSpPr>
          <p:nvPr/>
        </p:nvSpPr>
        <p:spPr>
          <a:xfrm>
            <a:off x="6362700" y="16097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7778"/>
          </a:bodyPr>
          <a:lstStyle/>
          <a:p>
            <a:pPr algn="l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O-G07 | BATCH PRODUCTION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7416FB21-AD11-44B8-BDE4-08F2BF63DC8C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697"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WHS-FRM-003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A006F382-DE17-42CC-ABDA-A620038C9C66}"/>
              </a:ext>
            </a:extLst>
          </p:cNvPr>
          <p:cNvSpPr>
            <a:spLocks noGrp="1"/>
          </p:cNvSpPr>
          <p:nvPr/>
        </p:nvSpPr>
        <p:spPr>
          <a:xfrm>
            <a:off x="666750" y="25146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Depolama koşulu ve koruma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99D4EE55-EB2C-4C36-B36A-C6CDA512057C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697"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WHS-FRM-004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F20CF460-D6F1-4CAE-8B19-6BC26E4B662F}"/>
              </a:ext>
            </a:extLst>
          </p:cNvPr>
          <p:cNvSpPr>
            <a:spLocks noGrp="1"/>
          </p:cNvSpPr>
          <p:nvPr/>
        </p:nvSpPr>
        <p:spPr>
          <a:xfrm>
            <a:off x="666750" y="34671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Lot, miktar, hedef batch, issue / return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C7321B43-B036-4919-B795-51A7A20D721B}"/>
              </a:ext>
            </a:extLst>
          </p:cNvPr>
          <p:cNvSpPr>
            <a:spLocks noGrp="1"/>
          </p:cNvSpPr>
          <p:nvPr/>
        </p:nvSpPr>
        <p:spPr>
          <a:xfrm>
            <a:off x="666750" y="42100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697"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WHS / WHL status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15C1A17B-D304-4C34-A017-2458403B28C2}"/>
              </a:ext>
            </a:extLst>
          </p:cNvPr>
          <p:cNvSpPr>
            <a:spLocks noGrp="1"/>
          </p:cNvSpPr>
          <p:nvPr/>
        </p:nvSpPr>
        <p:spPr>
          <a:xfrm>
            <a:off x="666750" y="45339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FEFO, raf ömrü, blokaj ve konum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C04CC393-EEA0-4B38-9CAC-8A005448A55E}"/>
              </a:ext>
            </a:extLst>
          </p:cNvPr>
          <p:cNvSpPr>
            <a:spLocks noGrp="1"/>
          </p:cNvSpPr>
          <p:nvPr/>
        </p:nvSpPr>
        <p:spPr>
          <a:xfrm>
            <a:off x="6572250" y="2190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697"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PRD-FRM-CLR-001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E5E0D526-300F-4387-952D-2B70CECDB937}"/>
              </a:ext>
            </a:extLst>
          </p:cNvPr>
          <p:cNvSpPr>
            <a:spLocks noGrp="1"/>
          </p:cNvSpPr>
          <p:nvPr/>
        </p:nvSpPr>
        <p:spPr>
          <a:xfrm>
            <a:off x="6572250" y="251460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Hat temizliği ve önceki ürün riski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F215F85B-F0C3-4BD0-80B7-1B114543CB64}"/>
              </a:ext>
            </a:extLst>
          </p:cNvPr>
          <p:cNvSpPr>
            <a:spLocks noGrp="1"/>
          </p:cNvSpPr>
          <p:nvPr/>
        </p:nvSpPr>
        <p:spPr>
          <a:xfrm>
            <a:off x="6572250" y="3143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697"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PRD-FRM-BMR-001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FA3F3F20-3C72-4B43-95E1-00EE87727170}"/>
              </a:ext>
            </a:extLst>
          </p:cNvPr>
          <p:cNvSpPr>
            <a:spLocks noGrp="1"/>
          </p:cNvSpPr>
          <p:nvPr/>
        </p:nvSpPr>
        <p:spPr>
          <a:xfrm>
            <a:off x="6572250" y="34671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Gerçek lot, tartım, kişi, ekipman, zaman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2C914807-C421-4E11-BAFC-F1EB133278C0}"/>
              </a:ext>
            </a:extLst>
          </p:cNvPr>
          <p:cNvSpPr>
            <a:spLocks noGrp="1"/>
          </p:cNvSpPr>
          <p:nvPr/>
        </p:nvSpPr>
        <p:spPr>
          <a:xfrm>
            <a:off x="6572250" y="42100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697"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PRD-FRM-IPC-001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817E9068-9FA1-4C7A-8E70-98B32CA236D4}"/>
              </a:ext>
            </a:extLst>
          </p:cNvPr>
          <p:cNvSpPr>
            <a:spLocks noGrp="1"/>
          </p:cNvSpPr>
          <p:nvPr/>
        </p:nvSpPr>
        <p:spPr>
          <a:xfrm>
            <a:off x="6572250" y="45339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Sıcaklık, süre, görünüm ve proses limitleri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2FB765EE-E88A-455C-9D83-FC8B30FA135F}"/>
              </a:ext>
            </a:extLst>
          </p:cNvPr>
          <p:cNvSpPr>
            <a:spLocks noGrp="1"/>
          </p:cNvSpPr>
          <p:nvPr/>
        </p:nvSpPr>
        <p:spPr>
          <a:xfrm>
            <a:off x="762000" y="565785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220"/>
          </a:bodyPr>
          <a:lstStyle/>
          <a:p>
            <a:pPr algn="ctr">
              <a:defRPr sz="1725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Yanlış lot veya tartım sapması görülürse batch'i tamamlamaya çalışmazsın: STOP + gerçek değeri koru + HOLD.</a:t>
            </a:r>
          </a:p>
        </p:txBody>
      </p:sp>
    </p:spTree>
    <p:extLst>
      <p:ext uri="{BB962C8B-B14F-4D97-AF65-F5344CB8AC3E}">
        <p14:creationId xmlns:p14="http://schemas.microsoft.com/office/powerpoint/2010/main" val="2081608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kdörtgen 22">
            <a:extLst>
              <a:ext uri="{FF2B5EF4-FFF2-40B4-BE49-F238E27FC236}">
                <a16:creationId xmlns:a16="http://schemas.microsoft.com/office/drawing/2014/main" id="{4792D2C1-528E-4A82-BD79-CBC0B798166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552B599B-8320-4BB1-A8B0-F11805952C3F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QC sonucu ancak QA kararıyla ürün statüsüne dönüşür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ED6C62C5-99A6-4A91-9572-6CB9315A9A48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B392855C-A326-4ACB-B5D6-CEDF6197BF4C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8121BFC3-12C3-4857-A5BC-FA6D1075EC39}"/>
              </a:ext>
            </a:extLst>
          </p:cNvPr>
          <p:cNvSpPr>
            <a:spLocks noGrp="1"/>
          </p:cNvSpPr>
          <p:nvPr/>
        </p:nvSpPr>
        <p:spPr>
          <a:xfrm>
            <a:off x="571500" y="2190750"/>
            <a:ext cx="2095500" cy="11430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5272A4F8-5A17-4295-9967-E1D7C0FD849B}"/>
              </a:ext>
            </a:extLst>
          </p:cNvPr>
          <p:cNvSpPr>
            <a:spLocks noGrp="1"/>
          </p:cNvSpPr>
          <p:nvPr/>
        </p:nvSpPr>
        <p:spPr>
          <a:xfrm>
            <a:off x="723900" y="23145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Numune &amp; ham veri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650BAA58-2EAD-4ECF-AD24-773BA0654DEF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1790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SMP-001 + TST-001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47E6A06-CF60-4DA1-BC3C-39F4DD5B0CC9}"/>
              </a:ext>
            </a:extLst>
          </p:cNvPr>
          <p:cNvSpPr>
            <a:spLocks noGrp="1"/>
          </p:cNvSpPr>
          <p:nvPr/>
        </p:nvSpPr>
        <p:spPr>
          <a:xfrm>
            <a:off x="3333750" y="2190750"/>
            <a:ext cx="2095500" cy="114300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2D707AA2-05D5-43CC-9157-1BA48F369340}"/>
              </a:ext>
            </a:extLst>
          </p:cNvPr>
          <p:cNvSpPr>
            <a:spLocks noGrp="1"/>
          </p:cNvSpPr>
          <p:nvPr/>
        </p:nvSpPr>
        <p:spPr>
          <a:xfrm>
            <a:off x="3486150" y="23145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QC review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332E26FF-5624-4F54-8CA8-8BBFE36B97C9}"/>
              </a:ext>
            </a:extLst>
          </p:cNvPr>
          <p:cNvSpPr>
            <a:spLocks noGrp="1"/>
          </p:cNvSpPr>
          <p:nvPr/>
        </p:nvSpPr>
        <p:spPr>
          <a:xfrm>
            <a:off x="3486150" y="2647950"/>
            <a:ext cx="1790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Metot / cihaz / sonuç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661F50D9-47C0-4C15-8D12-43FC447F7EC7}"/>
              </a:ext>
            </a:extLst>
          </p:cNvPr>
          <p:cNvSpPr>
            <a:spLocks noGrp="1"/>
          </p:cNvSpPr>
          <p:nvPr/>
        </p:nvSpPr>
        <p:spPr>
          <a:xfrm>
            <a:off x="6096000" y="2190750"/>
            <a:ext cx="2095500" cy="1143000"/>
          </a:xfrm>
          <a:prstGeom prst="rect">
            <a:avLst/>
          </a:prstGeom>
          <a:solidFill>
            <a:srgbClr val="FCE8B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DC06ED0A-359C-4523-92B8-9901A4BBC70C}"/>
              </a:ext>
            </a:extLst>
          </p:cNvPr>
          <p:cNvSpPr>
            <a:spLocks noGrp="1"/>
          </p:cNvSpPr>
          <p:nvPr/>
        </p:nvSpPr>
        <p:spPr>
          <a:xfrm>
            <a:off x="6248400" y="23145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QA disposition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A6D3A92-F704-4553-9363-A9531F500FB6}"/>
              </a:ext>
            </a:extLst>
          </p:cNvPr>
          <p:cNvSpPr>
            <a:spLocks noGrp="1"/>
          </p:cNvSpPr>
          <p:nvPr/>
        </p:nvSpPr>
        <p:spPr>
          <a:xfrm>
            <a:off x="6248400" y="2647950"/>
            <a:ext cx="1790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BDR-001 + REL-001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DA2B1719-CB97-4BF5-8149-25796C40A53E}"/>
              </a:ext>
            </a:extLst>
          </p:cNvPr>
          <p:cNvSpPr>
            <a:spLocks noGrp="1"/>
          </p:cNvSpPr>
          <p:nvPr/>
        </p:nvSpPr>
        <p:spPr>
          <a:xfrm>
            <a:off x="9239250" y="1466850"/>
            <a:ext cx="2095500" cy="952500"/>
          </a:xfrm>
          <a:prstGeom prst="rect">
            <a:avLst/>
          </a:prstGeom>
          <a:solidFill>
            <a:srgbClr val="D9EAD3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6B264128-86B3-45F2-ACF8-4D4EA05968D1}"/>
              </a:ext>
            </a:extLst>
          </p:cNvPr>
          <p:cNvSpPr>
            <a:spLocks noGrp="1"/>
          </p:cNvSpPr>
          <p:nvPr/>
        </p:nvSpPr>
        <p:spPr>
          <a:xfrm>
            <a:off x="9391650" y="15906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245B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5B36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7637BA6F-AA3C-4804-BBD6-787853CEAFD7}"/>
              </a:ext>
            </a:extLst>
          </p:cNvPr>
          <p:cNvSpPr>
            <a:spLocks noGrp="1"/>
          </p:cNvSpPr>
          <p:nvPr/>
        </p:nvSpPr>
        <p:spPr>
          <a:xfrm>
            <a:off x="9391650" y="1924050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Release register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61934511-2B2D-4BF9-B218-DFE583B3665F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2095500" cy="952500"/>
          </a:xfrm>
          <a:prstGeom prst="rect">
            <a:avLst/>
          </a:prstGeom>
          <a:solidFill>
            <a:srgbClr val="F4CCCC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926D8F7D-9355-4CCB-8BB3-5CED2D32B158}"/>
              </a:ext>
            </a:extLst>
          </p:cNvPr>
          <p:cNvSpPr>
            <a:spLocks noGrp="1"/>
          </p:cNvSpPr>
          <p:nvPr/>
        </p:nvSpPr>
        <p:spPr>
          <a:xfrm>
            <a:off x="9391650" y="29432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HOLD / OOS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7C88E12A-67C1-47E7-B42D-4AAF8C30C6C9}"/>
              </a:ext>
            </a:extLst>
          </p:cNvPr>
          <p:cNvSpPr>
            <a:spLocks noGrp="1"/>
          </p:cNvSpPr>
          <p:nvPr/>
        </p:nvSpPr>
        <p:spPr>
          <a:xfrm>
            <a:off x="9391650" y="3276600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OOS investigation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15EF2F08-1BB3-4600-B627-1315674F410D}"/>
              </a:ext>
            </a:extLst>
          </p:cNvPr>
          <p:cNvSpPr>
            <a:spLocks noGrp="1"/>
          </p:cNvSpPr>
          <p:nvPr/>
        </p:nvSpPr>
        <p:spPr>
          <a:xfrm>
            <a:off x="9239250" y="4171950"/>
            <a:ext cx="2095500" cy="9525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CECD9D30-FE3D-4DC2-9390-791D909B57E9}"/>
              </a:ext>
            </a:extLst>
          </p:cNvPr>
          <p:cNvSpPr>
            <a:spLocks noGrp="1"/>
          </p:cNvSpPr>
          <p:nvPr/>
        </p:nvSpPr>
        <p:spPr>
          <a:xfrm>
            <a:off x="9391650" y="42957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REWORK / REJECT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092A5A0C-C684-413B-9848-B0AC810E6876}"/>
              </a:ext>
            </a:extLst>
          </p:cNvPr>
          <p:cNvSpPr>
            <a:spLocks noGrp="1"/>
          </p:cNvSpPr>
          <p:nvPr/>
        </p:nvSpPr>
        <p:spPr>
          <a:xfrm>
            <a:off x="9391650" y="4629150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Authorized disposition</a:t>
            </a:r>
          </a:p>
        </p:txBody>
      </p:sp>
      <p:cxnSp>
        <p:nvCxnSpPr>
          <p:cNvPr id="51" name="Düz Ok Bağlayıcısı 50"/>
          <p:cNvCxnSpPr>
            <a:stCxn id="5" idx="3"/>
            <a:endCxn id="8" idx="1"/>
          </p:cNvCxnSpPr>
          <p:nvPr/>
        </p:nvCxnSpPr>
        <p:spPr>
          <a:xfrm>
            <a:off x="2667000" y="2762250"/>
            <a:ext cx="666750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52" name="Düz Ok Bağlayıcısı 51"/>
          <p:cNvCxnSpPr>
            <a:stCxn id="8" idx="3"/>
            <a:endCxn id="11" idx="1"/>
          </p:cNvCxnSpPr>
          <p:nvPr/>
        </p:nvCxnSpPr>
        <p:spPr>
          <a:xfrm>
            <a:off x="5429250" y="2762250"/>
            <a:ext cx="666750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53" name="Bağlayıcı: Dirsek 52"/>
          <p:cNvCxnSpPr>
            <a:stCxn id="11" idx="3"/>
            <a:endCxn id="14" idx="1"/>
          </p:cNvCxnSpPr>
          <p:nvPr/>
        </p:nvCxnSpPr>
        <p:spPr>
          <a:xfrm flipV="1">
            <a:off x="8191500" y="1943100"/>
            <a:ext cx="1047750" cy="819150"/>
          </a:xfrm>
          <a:prstGeom prst="bentConnector3">
            <a:avLst>
              <a:gd name="adj1" fmla="val 50000"/>
            </a:avLst>
          </a:prstGeom>
          <a:ln w="19050">
            <a:solidFill>
              <a:srgbClr val="245B36"/>
            </a:solidFill>
            <a:prstDash val="solid"/>
            <a:tailEnd type="arrow" w="med" len="med"/>
          </a:ln>
        </p:spPr>
      </p:cxnSp>
      <p:cxnSp>
        <p:nvCxnSpPr>
          <p:cNvPr id="54" name="Düz Ok Bağlayıcısı 53"/>
          <p:cNvCxnSpPr>
            <a:stCxn id="11" idx="3"/>
            <a:endCxn id="17" idx="1"/>
          </p:cNvCxnSpPr>
          <p:nvPr/>
        </p:nvCxnSpPr>
        <p:spPr>
          <a:xfrm>
            <a:off x="8191500" y="2762250"/>
            <a:ext cx="1047750" cy="533400"/>
          </a:xfrm>
          <a:prstGeom prst="straightConnector1">
            <a:avLst/>
          </a:prstGeom>
          <a:ln w="19050">
            <a:solidFill>
              <a:srgbClr val="9B1C1C"/>
            </a:solidFill>
            <a:prstDash val="solid"/>
            <a:tailEnd type="arrow" w="med" len="med"/>
          </a:ln>
        </p:spPr>
      </p:cxnSp>
      <p:cxnSp>
        <p:nvCxnSpPr>
          <p:cNvPr id="55" name="Bağlayıcı: Dirsek 54"/>
          <p:cNvCxnSpPr>
            <a:stCxn id="11" idx="3"/>
            <a:endCxn id="20" idx="1"/>
          </p:cNvCxnSpPr>
          <p:nvPr/>
        </p:nvCxnSpPr>
        <p:spPr>
          <a:xfrm>
            <a:off x="8191500" y="2762250"/>
            <a:ext cx="1047750" cy="1885950"/>
          </a:xfrm>
          <a:prstGeom prst="bentConnector3">
            <a:avLst>
              <a:gd name="adj1" fmla="val 50000"/>
            </a:avLst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sp>
        <p:nvSpPr>
          <p:cNvPr id="28" name="Dikdörtgen 27">
            <a:extLst>
              <a:ext uri="{FF2B5EF4-FFF2-40B4-BE49-F238E27FC236}">
                <a16:creationId xmlns:a16="http://schemas.microsoft.com/office/drawing/2014/main" id="{FD10BE5E-AD0C-4D9B-991F-2F2C81187A29}"/>
              </a:ext>
            </a:extLst>
          </p:cNvPr>
          <p:cNvSpPr>
            <a:spLocks noGrp="1"/>
          </p:cNvSpPr>
          <p:nvPr/>
        </p:nvSpPr>
        <p:spPr>
          <a:xfrm>
            <a:off x="857250" y="571500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725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Retest veya düzeltme, orijinal OOS'u silmez. Disposition ve etki alanı ayrı karardır.</a:t>
            </a:r>
          </a:p>
        </p:txBody>
      </p:sp>
    </p:spTree>
    <p:extLst>
      <p:ext uri="{BB962C8B-B14F-4D97-AF65-F5344CB8AC3E}">
        <p14:creationId xmlns:p14="http://schemas.microsoft.com/office/powerpoint/2010/main" val="1129294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ikdörtgen 11">
            <a:extLst>
              <a:ext uri="{FF2B5EF4-FFF2-40B4-BE49-F238E27FC236}">
                <a16:creationId xmlns:a16="http://schemas.microsoft.com/office/drawing/2014/main" id="{C81A1850-9C1C-4FDE-8F64-501851F78381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07B6936-B88E-4B4B-9A4E-60E9E4D26C4F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Sevkiyat ürünü; retrieval kaydı sistemi kapatır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57E005E1-546E-4E4A-916A-2D7AE3DFF9BB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28D75279-E280-43AE-B01F-DE46521BCD75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D0353DCB-DD12-4B74-86C9-4F3CBFE53330}"/>
              </a:ext>
            </a:extLst>
          </p:cNvPr>
          <p:cNvSpPr>
            <a:spLocks noGrp="1"/>
          </p:cNvSpPr>
          <p:nvPr/>
        </p:nvSpPr>
        <p:spPr>
          <a:xfrm>
            <a:off x="704850" y="1752600"/>
            <a:ext cx="4572000" cy="35242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915538CE-2EC8-42F4-8A12-FA2A1D3C8326}"/>
              </a:ext>
            </a:extLst>
          </p:cNvPr>
          <p:cNvSpPr>
            <a:spLocks noGrp="1"/>
          </p:cNvSpPr>
          <p:nvPr/>
        </p:nvSpPr>
        <p:spPr>
          <a:xfrm>
            <a:off x="857250" y="1876425"/>
            <a:ext cx="426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0714"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O-G09 | Dispatch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A2FD1E78-5B08-4950-97D1-17398F07CD5E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4267200" cy="297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WHS-FRM-005</a:t>
            </a:r>
          </a:p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QA-FRM-REL-006</a:t>
            </a:r>
          </a:p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WHL-FRM-DSP-001</a:t>
            </a:r>
          </a:p>
          <a:p>
            <a:endParaRPr sz="1575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Müşteri / lot / etiket / CoA / araç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B672D235-3655-4986-800A-6AD543BA5467}"/>
              </a:ext>
            </a:extLst>
          </p:cNvPr>
          <p:cNvSpPr>
            <a:spLocks noGrp="1"/>
          </p:cNvSpPr>
          <p:nvPr/>
        </p:nvSpPr>
        <p:spPr>
          <a:xfrm>
            <a:off x="6915150" y="1752600"/>
            <a:ext cx="4572000" cy="352425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E92BF53-8C45-405E-B95C-62BC5DA058F6}"/>
              </a:ext>
            </a:extLst>
          </p:cNvPr>
          <p:cNvSpPr>
            <a:spLocks noGrp="1"/>
          </p:cNvSpPr>
          <p:nvPr/>
        </p:nvSpPr>
        <p:spPr>
          <a:xfrm>
            <a:off x="7067550" y="1876425"/>
            <a:ext cx="426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0714"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O-G10 | Evidence closure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61C0E1D-2E5C-4C12-A5A2-D2C807D54C4F}"/>
              </a:ext>
            </a:extLst>
          </p:cNvPr>
          <p:cNvSpPr>
            <a:spLocks noGrp="1"/>
          </p:cNvSpPr>
          <p:nvPr/>
        </p:nvSpPr>
        <p:spPr>
          <a:xfrm>
            <a:off x="7067550" y="2209800"/>
            <a:ext cx="4267200" cy="297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Manifest + explanation sheet</a:t>
            </a:r>
          </a:p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Repository / retention</a:t>
            </a:r>
          </a:p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Independent retrieval</a:t>
            </a:r>
          </a:p>
          <a:p>
            <a:endParaRPr sz="1575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Accepted dossier veya REOPEN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31364313-9567-4B6C-A56F-040B53B751C3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Ürün kapıdan çıktığında ticari işlem biter; sistem, kararın yeniden bulunabildiği anda kapanır.</a:t>
            </a:r>
          </a:p>
        </p:txBody>
      </p:sp>
    </p:spTree>
    <p:extLst>
      <p:ext uri="{BB962C8B-B14F-4D97-AF65-F5344CB8AC3E}">
        <p14:creationId xmlns:p14="http://schemas.microsoft.com/office/powerpoint/2010/main" val="939677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ikdörtgen 20">
            <a:extLst>
              <a:ext uri="{FF2B5EF4-FFF2-40B4-BE49-F238E27FC236}">
                <a16:creationId xmlns:a16="http://schemas.microsoft.com/office/drawing/2014/main" id="{3AAD0FDE-FC86-4042-9100-E2E7E4C26F5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F3F9DF0F-090F-4BD1-8453-193A638C8627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191"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Anormal olayda ilk amaç formu bitirmek değil, riski durdurmaktır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062574E3-A620-4065-A5BB-56C5926DDD14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E61689C9-1A53-4783-A4E3-66D3407F0BAF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C0F3CE37-37DE-49CD-BCB6-F1917457646B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6477000" cy="781050"/>
          </a:xfrm>
          <a:prstGeom prst="rect">
            <a:avLst/>
          </a:prstGeom>
          <a:solidFill>
            <a:srgbClr val="F4CCCC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7C669934-6E03-47BD-B430-B977CBFFFCCA}"/>
              </a:ext>
            </a:extLst>
          </p:cNvPr>
          <p:cNvSpPr>
            <a:spLocks noGrp="1"/>
          </p:cNvSpPr>
          <p:nvPr/>
        </p:nvSpPr>
        <p:spPr>
          <a:xfrm>
            <a:off x="762000" y="1685925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1 | STOP / HOLD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532A76D2-5DD4-4A9E-AA5B-5E44CBFC54BD}"/>
              </a:ext>
            </a:extLst>
          </p:cNvPr>
          <p:cNvSpPr>
            <a:spLocks noGrp="1"/>
          </p:cNvSpPr>
          <p:nvPr/>
        </p:nvSpPr>
        <p:spPr>
          <a:xfrm>
            <a:off x="762000" y="2019300"/>
            <a:ext cx="617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588"/>
          </a:bodyPr>
          <a:lstStyle/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Faaliyeti veya statüyü güvenli noktada durdur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B8CB0C72-0C1B-4C4D-B859-8687809CF30D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6477000" cy="7810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49780C0-2B4E-4944-9EEA-05E1A67E4085}"/>
              </a:ext>
            </a:extLst>
          </p:cNvPr>
          <p:cNvSpPr>
            <a:spLocks noGrp="1"/>
          </p:cNvSpPr>
          <p:nvPr/>
        </p:nvSpPr>
        <p:spPr>
          <a:xfrm>
            <a:off x="762000" y="2733675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 | FACTS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350EBADC-2571-455B-B56F-235DCE7EE902}"/>
              </a:ext>
            </a:extLst>
          </p:cNvPr>
          <p:cNvSpPr>
            <a:spLocks noGrp="1"/>
          </p:cNvSpPr>
          <p:nvPr/>
        </p:nvSpPr>
        <p:spPr>
          <a:xfrm>
            <a:off x="762000" y="3067050"/>
            <a:ext cx="617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588"/>
          </a:bodyPr>
          <a:lstStyle/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Orijinal değer, tarih, kişi ve kaynağı koru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BB755698-C2CF-4808-9DAB-6AC7991ECD18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477000" cy="7810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C598B62C-A2DB-4CFE-A07B-52EC49B9CB2F}"/>
              </a:ext>
            </a:extLst>
          </p:cNvPr>
          <p:cNvSpPr>
            <a:spLocks noGrp="1"/>
          </p:cNvSpPr>
          <p:nvPr/>
        </p:nvSpPr>
        <p:spPr>
          <a:xfrm>
            <a:off x="762000" y="3781425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 | SCOPE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C6AF30A3-7705-4653-BB18-6E6E07B381A0}"/>
              </a:ext>
            </a:extLst>
          </p:cNvPr>
          <p:cNvSpPr>
            <a:spLocks noGrp="1"/>
          </p:cNvSpPr>
          <p:nvPr/>
        </p:nvSpPr>
        <p:spPr>
          <a:xfrm>
            <a:off x="762000" y="4114800"/>
            <a:ext cx="617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588"/>
          </a:bodyPr>
          <a:lstStyle/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Etkilenen lot, batch, sample, result ve customer'ı tanımla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446A8706-3A2F-4F44-BAE9-02394C55FEAE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6477000" cy="7810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302D8375-9F28-4177-BD90-398CB75232A5}"/>
              </a:ext>
            </a:extLst>
          </p:cNvPr>
          <p:cNvSpPr>
            <a:spLocks noGrp="1"/>
          </p:cNvSpPr>
          <p:nvPr/>
        </p:nvSpPr>
        <p:spPr>
          <a:xfrm>
            <a:off x="762000" y="4829175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 | ESCALATE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3EF3A125-BD66-4942-96BD-4C92759DDFF0}"/>
              </a:ext>
            </a:extLst>
          </p:cNvPr>
          <p:cNvSpPr>
            <a:spLocks noGrp="1"/>
          </p:cNvSpPr>
          <p:nvPr/>
        </p:nvSpPr>
        <p:spPr>
          <a:xfrm>
            <a:off x="762000" y="5162550"/>
            <a:ext cx="617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588"/>
          </a:bodyPr>
          <a:lstStyle/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NCR / OOS / CAPA / MOC / risk kaydını yetkili role aç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98BF61EF-BEB7-47E7-8E80-28CFC7CD11A8}"/>
              </a:ext>
            </a:extLst>
          </p:cNvPr>
          <p:cNvSpPr>
            <a:spLocks noGrp="1"/>
          </p:cNvSpPr>
          <p:nvPr/>
        </p:nvSpPr>
        <p:spPr>
          <a:xfrm>
            <a:off x="7810500" y="1981200"/>
            <a:ext cx="3429000" cy="2571750"/>
          </a:xfrm>
          <a:prstGeom prst="rect">
            <a:avLst/>
          </a:prstGeom>
          <a:solidFill>
            <a:srgbClr val="FCE8B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1896C54C-4608-42E1-9047-D215825D3DFB}"/>
              </a:ext>
            </a:extLst>
          </p:cNvPr>
          <p:cNvSpPr>
            <a:spLocks noGrp="1"/>
          </p:cNvSpPr>
          <p:nvPr/>
        </p:nvSpPr>
        <p:spPr>
          <a:xfrm>
            <a:off x="7962900" y="2105025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0714"/>
          </a:bodyPr>
          <a:lstStyle/>
          <a:p>
            <a:pPr algn="l">
              <a:defRPr sz="2100" b="1">
                <a:solidFill>
                  <a:srgbClr val="7251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25100"/>
                </a:solidFill>
                <a:latin typeface="Arial"/>
                <a:ea typeface="Arial"/>
                <a:cs typeface="Arial"/>
              </a:rPr>
              <a:t>FALSE CLOSURE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8D7B5CFA-6609-4F9F-A898-66A087CB8307}"/>
              </a:ext>
            </a:extLst>
          </p:cNvPr>
          <p:cNvSpPr>
            <a:spLocks noGrp="1"/>
          </p:cNvSpPr>
          <p:nvPr/>
        </p:nvSpPr>
        <p:spPr>
          <a:xfrm>
            <a:off x="7962900" y="2438400"/>
            <a:ext cx="3124200" cy="2019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Düzeltme tamamlandı ≠ kök neden kapandı</a:t>
            </a:r>
          </a:p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Aksiyon tamamlandı ≠ CAPA etkili</a:t>
            </a:r>
          </a:p>
          <a:p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Temiz dashboard ≠ kontrol altında sistem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053156C8-A839-40D2-9524-97085342A6DC}"/>
              </a:ext>
            </a:extLst>
          </p:cNvPr>
          <p:cNvSpPr>
            <a:spLocks noGrp="1"/>
          </p:cNvSpPr>
          <p:nvPr/>
        </p:nvSpPr>
        <p:spPr>
          <a:xfrm>
            <a:off x="762000" y="57912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650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Ay sonunda açık kritik durum YGG'den saklanmaz; scope, kaynak veya continued HOLD kararı verilir.</a:t>
            </a:r>
          </a:p>
        </p:txBody>
      </p:sp>
    </p:spTree>
    <p:extLst>
      <p:ext uri="{BB962C8B-B14F-4D97-AF65-F5344CB8AC3E}">
        <p14:creationId xmlns:p14="http://schemas.microsoft.com/office/powerpoint/2010/main" val="1377496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kdörtgen 22">
            <a:extLst>
              <a:ext uri="{FF2B5EF4-FFF2-40B4-BE49-F238E27FC236}">
                <a16:creationId xmlns:a16="http://schemas.microsoft.com/office/drawing/2014/main" id="{2F5ED8DB-1D00-4258-AFA8-D780EA65481C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ABD394C1-4C0E-42FE-9480-5429A59E63D3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Yanlış CoA senaryosu doğru kararı görünür kılar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A7C99B9F-A71C-42F8-BC63-02E1334BA155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948FF4D9-2068-44D0-8139-8A0FACF9658E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682CB2E5-F510-4ACE-B8E9-8DAA13DB71A0}"/>
              </a:ext>
            </a:extLst>
          </p:cNvPr>
          <p:cNvSpPr>
            <a:spLocks noGrp="1"/>
          </p:cNvSpPr>
          <p:nvPr/>
        </p:nvSpPr>
        <p:spPr>
          <a:xfrm>
            <a:off x="476250" y="2381250"/>
            <a:ext cx="1619250" cy="14287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1FAB7E8C-8E44-404A-B264-C4F30BCC664A}"/>
              </a:ext>
            </a:extLst>
          </p:cNvPr>
          <p:cNvSpPr>
            <a:spLocks noGrp="1"/>
          </p:cNvSpPr>
          <p:nvPr/>
        </p:nvSpPr>
        <p:spPr>
          <a:xfrm>
            <a:off x="628650" y="250507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 | Receipt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15E89818-DF3B-4D81-A586-0BB9C2DDB044}"/>
              </a:ext>
            </a:extLst>
          </p:cNvPr>
          <p:cNvSpPr>
            <a:spLocks noGrp="1"/>
          </p:cNvSpPr>
          <p:nvPr/>
        </p:nvSpPr>
        <p:spPr>
          <a:xfrm>
            <a:off x="628650" y="2838450"/>
            <a:ext cx="13144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Lot açılır; QUARANTINE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D29AAE2-22C1-4C33-8543-E74B7EFF7002}"/>
              </a:ext>
            </a:extLst>
          </p:cNvPr>
          <p:cNvSpPr>
            <a:spLocks noGrp="1"/>
          </p:cNvSpPr>
          <p:nvPr/>
        </p:nvSpPr>
        <p:spPr>
          <a:xfrm>
            <a:off x="2428875" y="2381250"/>
            <a:ext cx="1619250" cy="14287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6FAF74E6-979F-48C4-B755-43948C0A9564}"/>
              </a:ext>
            </a:extLst>
          </p:cNvPr>
          <p:cNvSpPr>
            <a:spLocks noGrp="1"/>
          </p:cNvSpPr>
          <p:nvPr/>
        </p:nvSpPr>
        <p:spPr>
          <a:xfrm>
            <a:off x="2581275" y="250507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 | CoA review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90D71C09-52B5-4A1B-95B3-8A2FF084D101}"/>
              </a:ext>
            </a:extLst>
          </p:cNvPr>
          <p:cNvSpPr>
            <a:spLocks noGrp="1"/>
          </p:cNvSpPr>
          <p:nvPr/>
        </p:nvSpPr>
        <p:spPr>
          <a:xfrm>
            <a:off x="2581275" y="2838450"/>
            <a:ext cx="13144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Ürün kodu PO ile uyuşmaz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38565089-FC9A-456E-86B8-10996197141C}"/>
              </a:ext>
            </a:extLst>
          </p:cNvPr>
          <p:cNvSpPr>
            <a:spLocks noGrp="1"/>
          </p:cNvSpPr>
          <p:nvPr/>
        </p:nvSpPr>
        <p:spPr>
          <a:xfrm>
            <a:off x="4381500" y="2381250"/>
            <a:ext cx="1619250" cy="1428750"/>
          </a:xfrm>
          <a:prstGeom prst="rect">
            <a:avLst/>
          </a:prstGeom>
          <a:solidFill>
            <a:srgbClr val="F4CCCC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63076163-F17E-4D3B-868A-2187882017D3}"/>
              </a:ext>
            </a:extLst>
          </p:cNvPr>
          <p:cNvSpPr>
            <a:spLocks noGrp="1"/>
          </p:cNvSpPr>
          <p:nvPr/>
        </p:nvSpPr>
        <p:spPr>
          <a:xfrm>
            <a:off x="4533900" y="250507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3 | HOLD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BC52348E-AC99-405E-A418-AB7F2F103D34}"/>
              </a:ext>
            </a:extLst>
          </p:cNvPr>
          <p:cNvSpPr>
            <a:spLocks noGrp="1"/>
          </p:cNvSpPr>
          <p:nvPr/>
        </p:nvSpPr>
        <p:spPr>
          <a:xfrm>
            <a:off x="4533900" y="2838450"/>
            <a:ext cx="13144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Lot issue edilmez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917B656B-D944-4DC7-9EBB-36C96CAAB995}"/>
              </a:ext>
            </a:extLst>
          </p:cNvPr>
          <p:cNvSpPr>
            <a:spLocks noGrp="1"/>
          </p:cNvSpPr>
          <p:nvPr/>
        </p:nvSpPr>
        <p:spPr>
          <a:xfrm>
            <a:off x="6334125" y="2381250"/>
            <a:ext cx="1619250" cy="14287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7D02DF81-DF77-4B56-8DD7-5CBC3B4D0402}"/>
              </a:ext>
            </a:extLst>
          </p:cNvPr>
          <p:cNvSpPr>
            <a:spLocks noGrp="1"/>
          </p:cNvSpPr>
          <p:nvPr/>
        </p:nvSpPr>
        <p:spPr>
          <a:xfrm>
            <a:off x="6486525" y="250507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653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 | Supplier action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078D59A5-ECD7-4B3E-8CB8-A2FBB7284FF0}"/>
              </a:ext>
            </a:extLst>
          </p:cNvPr>
          <p:cNvSpPr>
            <a:spLocks noGrp="1"/>
          </p:cNvSpPr>
          <p:nvPr/>
        </p:nvSpPr>
        <p:spPr>
          <a:xfrm>
            <a:off x="6486525" y="2838450"/>
            <a:ext cx="13144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Doğru CoA + neden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CCE34A5E-B768-4EFE-B6E2-DE07C2922CF4}"/>
              </a:ext>
            </a:extLst>
          </p:cNvPr>
          <p:cNvSpPr>
            <a:spLocks noGrp="1"/>
          </p:cNvSpPr>
          <p:nvPr/>
        </p:nvSpPr>
        <p:spPr>
          <a:xfrm>
            <a:off x="8286750" y="2381250"/>
            <a:ext cx="1619250" cy="1428750"/>
          </a:xfrm>
          <a:prstGeom prst="rect">
            <a:avLst/>
          </a:prstGeom>
          <a:solidFill>
            <a:srgbClr val="D9EAD3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13AEBF2E-CDEF-4BA5-A19D-52624653E648}"/>
              </a:ext>
            </a:extLst>
          </p:cNvPr>
          <p:cNvSpPr>
            <a:spLocks noGrp="1"/>
          </p:cNvSpPr>
          <p:nvPr/>
        </p:nvSpPr>
        <p:spPr>
          <a:xfrm>
            <a:off x="8439150" y="250507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319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 | QA decision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16ABFC37-A856-4AC8-8C84-C3EEA439B538}"/>
              </a:ext>
            </a:extLst>
          </p:cNvPr>
          <p:cNvSpPr>
            <a:spLocks noGrp="1"/>
          </p:cNvSpPr>
          <p:nvPr/>
        </p:nvSpPr>
        <p:spPr>
          <a:xfrm>
            <a:off x="8439150" y="2838450"/>
            <a:ext cx="13144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Aynı lot izi korunarak ACCEPT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189BBFA6-865B-4852-8AEA-9295D514C553}"/>
              </a:ext>
            </a:extLst>
          </p:cNvPr>
          <p:cNvSpPr>
            <a:spLocks noGrp="1"/>
          </p:cNvSpPr>
          <p:nvPr/>
        </p:nvSpPr>
        <p:spPr>
          <a:xfrm>
            <a:off x="10239375" y="2381250"/>
            <a:ext cx="1619250" cy="14287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18C42505-5C01-49DF-9FED-7F1679D1F172}"/>
              </a:ext>
            </a:extLst>
          </p:cNvPr>
          <p:cNvSpPr>
            <a:spLocks noGrp="1"/>
          </p:cNvSpPr>
          <p:nvPr/>
        </p:nvSpPr>
        <p:spPr>
          <a:xfrm>
            <a:off x="10391775" y="250507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4219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 | Batch / retrieval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31C9CAD3-4AAE-4CB1-9323-FDA8A5456B8F}"/>
              </a:ext>
            </a:extLst>
          </p:cNvPr>
          <p:cNvSpPr>
            <a:spLocks noGrp="1"/>
          </p:cNvSpPr>
          <p:nvPr/>
        </p:nvSpPr>
        <p:spPr>
          <a:xfrm>
            <a:off x="10391775" y="2838450"/>
            <a:ext cx="13144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Lot -&gt; BMR -&gt; QC -&gt; dispatch trace</a:t>
            </a:r>
          </a:p>
        </p:txBody>
      </p:sp>
      <p:cxnSp>
        <p:nvCxnSpPr>
          <p:cNvPr id="52" name="Düz Ok Bağlayıcısı 51"/>
          <p:cNvCxnSpPr>
            <a:stCxn id="5" idx="3"/>
            <a:endCxn id="8" idx="1"/>
          </p:cNvCxnSpPr>
          <p:nvPr/>
        </p:nvCxnSpPr>
        <p:spPr>
          <a:xfrm>
            <a:off x="2095500" y="3095625"/>
            <a:ext cx="333375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53" name="Düz Ok Bağlayıcısı 52"/>
          <p:cNvCxnSpPr>
            <a:stCxn id="8" idx="3"/>
            <a:endCxn id="11" idx="1"/>
          </p:cNvCxnSpPr>
          <p:nvPr/>
        </p:nvCxnSpPr>
        <p:spPr>
          <a:xfrm>
            <a:off x="4048125" y="3095625"/>
            <a:ext cx="333375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54" name="Düz Ok Bağlayıcısı 53"/>
          <p:cNvCxnSpPr>
            <a:stCxn id="11" idx="3"/>
            <a:endCxn id="14" idx="1"/>
          </p:cNvCxnSpPr>
          <p:nvPr/>
        </p:nvCxnSpPr>
        <p:spPr>
          <a:xfrm>
            <a:off x="6000750" y="3095625"/>
            <a:ext cx="333375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55" name="Düz Ok Bağlayıcısı 54"/>
          <p:cNvCxnSpPr>
            <a:stCxn id="14" idx="3"/>
            <a:endCxn id="17" idx="1"/>
          </p:cNvCxnSpPr>
          <p:nvPr/>
        </p:nvCxnSpPr>
        <p:spPr>
          <a:xfrm>
            <a:off x="7953375" y="3095625"/>
            <a:ext cx="333375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cxnSp>
        <p:nvCxnSpPr>
          <p:cNvPr id="56" name="Düz Ok Bağlayıcısı 55"/>
          <p:cNvCxnSpPr>
            <a:stCxn id="17" idx="3"/>
            <a:endCxn id="20" idx="1"/>
          </p:cNvCxnSpPr>
          <p:nvPr/>
        </p:nvCxnSpPr>
        <p:spPr>
          <a:xfrm>
            <a:off x="9906000" y="3095625"/>
            <a:ext cx="333375" cy="0"/>
          </a:xfrm>
          <a:prstGeom prst="straightConnector1">
            <a:avLst/>
          </a:prstGeom>
          <a:ln w="19050">
            <a:solidFill>
              <a:srgbClr val="5F6670"/>
            </a:solidFill>
            <a:prstDash val="solid"/>
            <a:tailEnd type="arrow" w="med" len="med"/>
          </a:ln>
        </p:spPr>
      </p:cxnSp>
      <p:sp>
        <p:nvSpPr>
          <p:cNvPr id="28" name="Dikdörtgen 27">
            <a:extLst>
              <a:ext uri="{FF2B5EF4-FFF2-40B4-BE49-F238E27FC236}">
                <a16:creationId xmlns:a16="http://schemas.microsoft.com/office/drawing/2014/main" id="{CA22B150-082E-46AA-991D-5D59F6AD01C0}"/>
              </a:ext>
            </a:extLst>
          </p:cNvPr>
          <p:cNvSpPr>
            <a:spLocks noGrp="1"/>
          </p:cNvSpPr>
          <p:nvPr/>
        </p:nvSpPr>
        <p:spPr>
          <a:xfrm>
            <a:off x="781050" y="491490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331"/>
          </a:bodyPr>
          <a:lstStyle/>
          <a:p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HOLD bir gecikme değildir; yanlış malzemenin tüm downstream kayıtlara yayılmasını engelleyen kontrollü karardır.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F1FF722E-6CC6-400D-B5D0-F2D7B0B9005D}"/>
              </a:ext>
            </a:extLst>
          </p:cNvPr>
          <p:cNvSpPr>
            <a:spLocks noGrp="1"/>
          </p:cNvSpPr>
          <p:nvPr/>
        </p:nvSpPr>
        <p:spPr>
          <a:xfrm>
            <a:off x="781050" y="5695950"/>
            <a:ext cx="1057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Beklenen kayıtlar: WHS-FRM-001 -&gt; REL-005 -&gt; INC-001 -&gt; REL-002 -&gt; WHS-FRM-004 -&gt; BMR-001</a:t>
            </a:r>
          </a:p>
        </p:txBody>
      </p:sp>
    </p:spTree>
    <p:extLst>
      <p:ext uri="{BB962C8B-B14F-4D97-AF65-F5344CB8AC3E}">
        <p14:creationId xmlns:p14="http://schemas.microsoft.com/office/powerpoint/2010/main" val="1930149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A0161982-AE2B-4452-984B-CCE752D5AD6A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1D496CA1-2533-4606-973B-291592D13502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Dört kimlik dört ayrı şeyi anlatır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73D23850-DD8A-489D-A926-353CDA5A1496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6A35D4E8-933C-473A-9447-91048076A5B8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graphicFrame>
        <p:nvGraphicFramePr>
          <p:cNvPr id="16" name="Tablo 15"/>
          <p:cNvGraphicFramePr/>
          <p:nvPr/>
        </p:nvGraphicFramePr>
        <p:xfrm>
          <a:off x="400050" y="1600200"/>
          <a:ext cx="11391900" cy="31432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Kimlik</a:t>
                      </a:r>
                    </a:p>
                  </a:txBody>
                  <a:tcPr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Örnek</a:t>
                      </a:r>
                    </a:p>
                  </a:txBody>
                  <a:tcPr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Anlam</a:t>
                      </a:r>
                    </a:p>
                  </a:txBody>
                  <a:tcPr>
                    <a:solidFill>
                      <a:srgbClr val="D0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MAPA-PRD-FRM-BMR-001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Kontrollü şablon kimliği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Transaction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SIM-MCS-202608-D05-014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Tek bir event / kayıt nüshası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Raw-material 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SIM-RM-PCEHD-260812-001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 / CoA / receipt / sample / release nesnesi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MCS batch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SIM-MCS-KRMIXSP-260815-A-001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Girdi lotu / kişi / ekipman / IPC / QC / disposition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Live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EVD-MCS-202609-001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Yalnız kabul edilmiş canlı kanıt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Dikdörtgen 5">
            <a:extLst>
              <a:ext uri="{FF2B5EF4-FFF2-40B4-BE49-F238E27FC236}">
                <a16:creationId xmlns:a16="http://schemas.microsoft.com/office/drawing/2014/main" id="{C6169B29-3735-4F5E-A8F2-7C3E0899589D}"/>
              </a:ext>
            </a:extLst>
          </p:cNvPr>
          <p:cNvSpPr>
            <a:spLocks noGrp="1"/>
          </p:cNvSpPr>
          <p:nvPr/>
        </p:nvSpPr>
        <p:spPr>
          <a:xfrm>
            <a:off x="704850" y="5143500"/>
            <a:ext cx="5143500" cy="857250"/>
          </a:xfrm>
          <a:prstGeom prst="rect">
            <a:avLst/>
          </a:prstGeom>
          <a:solidFill>
            <a:srgbClr val="D9EAD3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8ABFD3B1-648E-4FF0-882A-F76F58657A9F}"/>
              </a:ext>
            </a:extLst>
          </p:cNvPr>
          <p:cNvSpPr>
            <a:spLocks noGrp="1"/>
          </p:cNvSpPr>
          <p:nvPr/>
        </p:nvSpPr>
        <p:spPr>
          <a:xfrm>
            <a:off x="857250" y="5267325"/>
            <a:ext cx="483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245B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5B36"/>
                </a:solidFill>
                <a:latin typeface="Arial"/>
                <a:ea typeface="Arial"/>
                <a:cs typeface="Arial"/>
              </a:rPr>
              <a:t>Doğru dosya adı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DFA14B9-A112-4F30-A6DD-452B69FA5DEA}"/>
              </a:ext>
            </a:extLst>
          </p:cNvPr>
          <p:cNvSpPr>
            <a:spLocks noGrp="1"/>
          </p:cNvSpPr>
          <p:nvPr/>
        </p:nvSpPr>
        <p:spPr>
          <a:xfrm>
            <a:off x="857250" y="5600700"/>
            <a:ext cx="483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{SIM-ID}_{RecordCode}_{Rev}_TRAINING.ext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2B63B2DD-DF16-460F-BBFA-661159870F6E}"/>
              </a:ext>
            </a:extLst>
          </p:cNvPr>
          <p:cNvSpPr>
            <a:spLocks noGrp="1"/>
          </p:cNvSpPr>
          <p:nvPr/>
        </p:nvSpPr>
        <p:spPr>
          <a:xfrm>
            <a:off x="6343650" y="5143500"/>
            <a:ext cx="5143500" cy="857250"/>
          </a:xfrm>
          <a:prstGeom prst="rect">
            <a:avLst/>
          </a:prstGeom>
          <a:solidFill>
            <a:srgbClr val="F4CCCC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6C1235FB-FEF2-4206-A566-F9CFB9BBA11C}"/>
              </a:ext>
            </a:extLst>
          </p:cNvPr>
          <p:cNvSpPr>
            <a:spLocks noGrp="1"/>
          </p:cNvSpPr>
          <p:nvPr/>
        </p:nvSpPr>
        <p:spPr>
          <a:xfrm>
            <a:off x="6496050" y="5267325"/>
            <a:ext cx="483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Yanlış dosya adı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3435028E-EE8C-434F-BB1B-83355C4C812E}"/>
              </a:ext>
            </a:extLst>
          </p:cNvPr>
          <p:cNvSpPr>
            <a:spLocks noGrp="1"/>
          </p:cNvSpPr>
          <p:nvPr/>
        </p:nvSpPr>
        <p:spPr>
          <a:xfrm>
            <a:off x="6496050" y="5600700"/>
            <a:ext cx="483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mal_kabul_son_final_yeni.xlsx</a:t>
            </a:r>
          </a:p>
        </p:txBody>
      </p:sp>
    </p:spTree>
    <p:extLst>
      <p:ext uri="{BB962C8B-B14F-4D97-AF65-F5344CB8AC3E}">
        <p14:creationId xmlns:p14="http://schemas.microsoft.com/office/powerpoint/2010/main" val="537634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ikdörtgen 13">
            <a:extLst>
              <a:ext uri="{FF2B5EF4-FFF2-40B4-BE49-F238E27FC236}">
                <a16:creationId xmlns:a16="http://schemas.microsoft.com/office/drawing/2014/main" id="{5CC8C75E-24D0-4901-B459-2C1642AC801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9052D9C4-8073-48A2-949E-C924AB16F993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Genealogy bir kayıt zinciri değil, etki haritasıdır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5081AC8E-6579-4667-844F-262284C6E626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821FB17-D3D8-410F-B57A-E497F262FD7A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1501D49-FEC7-4FF5-B8BB-563497D6FE3D}"/>
              </a:ext>
            </a:extLst>
          </p:cNvPr>
          <p:cNvSpPr>
            <a:spLocks noGrp="1"/>
          </p:cNvSpPr>
          <p:nvPr/>
        </p:nvSpPr>
        <p:spPr>
          <a:xfrm>
            <a:off x="514350" y="2114550"/>
            <a:ext cx="2476500" cy="238125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F6B42F93-A82B-4672-B3C8-7CC686415FFC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2963"/>
          </a:bodyPr>
          <a:lstStyle/>
          <a:p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UPSTREAM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C4EDB03D-4F49-4928-846D-4C6BA7858E41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21717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Need</a:t>
            </a:r>
          </a:p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 master</a:t>
            </a:r>
          </a:p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/ ASL</a:t>
            </a:r>
          </a:p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RFQ / PO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BF9FFE5-A521-4EFB-972F-FD0339895FE4}"/>
              </a:ext>
            </a:extLst>
          </p:cNvPr>
          <p:cNvSpPr>
            <a:spLocks noGrp="1"/>
          </p:cNvSpPr>
          <p:nvPr/>
        </p:nvSpPr>
        <p:spPr>
          <a:xfrm>
            <a:off x="4810125" y="2114550"/>
            <a:ext cx="2571750" cy="238125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83EB6BC-D07E-4B31-94A6-BAEDCA7DD894}"/>
              </a:ext>
            </a:extLst>
          </p:cNvPr>
          <p:cNvSpPr>
            <a:spLocks noGrp="1"/>
          </p:cNvSpPr>
          <p:nvPr/>
        </p:nvSpPr>
        <p:spPr>
          <a:xfrm>
            <a:off x="4962525" y="223837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2963"/>
          </a:bodyPr>
          <a:lstStyle/>
          <a:p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OBJECT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5F9D7866-592B-40F3-BC24-61BD9A9BF7EB}"/>
              </a:ext>
            </a:extLst>
          </p:cNvPr>
          <p:cNvSpPr>
            <a:spLocks noGrp="1"/>
          </p:cNvSpPr>
          <p:nvPr/>
        </p:nvSpPr>
        <p:spPr>
          <a:xfrm>
            <a:off x="4962525" y="2571750"/>
            <a:ext cx="226695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RM lot</a:t>
            </a:r>
          </a:p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Receipt / CoA / sample</a:t>
            </a:r>
          </a:p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 release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10CBA15-46C8-408A-B210-37F0E4320CA5}"/>
              </a:ext>
            </a:extLst>
          </p:cNvPr>
          <p:cNvSpPr>
            <a:spLocks noGrp="1"/>
          </p:cNvSpPr>
          <p:nvPr/>
        </p:nvSpPr>
        <p:spPr>
          <a:xfrm>
            <a:off x="9201150" y="2114550"/>
            <a:ext cx="2476500" cy="2381250"/>
          </a:xfrm>
          <a:prstGeom prst="rect">
            <a:avLst/>
          </a:prstGeom>
          <a:solidFill>
            <a:srgbClr val="D9EAD3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8F102722-C596-4F07-80D2-18FB942DF336}"/>
              </a:ext>
            </a:extLst>
          </p:cNvPr>
          <p:cNvSpPr>
            <a:spLocks noGrp="1"/>
          </p:cNvSpPr>
          <p:nvPr/>
        </p:nvSpPr>
        <p:spPr>
          <a:xfrm>
            <a:off x="9353550" y="22383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2963"/>
          </a:bodyPr>
          <a:lstStyle/>
          <a:p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DOWNSTREAM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FC4EBCBD-CF03-4A59-BD9B-FCC41B57F6CD}"/>
              </a:ext>
            </a:extLst>
          </p:cNvPr>
          <p:cNvSpPr>
            <a:spLocks noGrp="1"/>
          </p:cNvSpPr>
          <p:nvPr/>
        </p:nvSpPr>
        <p:spPr>
          <a:xfrm>
            <a:off x="9353550" y="2571750"/>
            <a:ext cx="21717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Warehouse issue</a:t>
            </a:r>
          </a:p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BMR / IPC / QC</a:t>
            </a:r>
          </a:p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Batch release</a:t>
            </a:r>
          </a:p>
          <a:p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Dispatch / customer</a:t>
            </a:r>
          </a:p>
        </p:txBody>
      </p:sp>
      <p:cxnSp>
        <p:nvCxnSpPr>
          <p:cNvPr id="30" name="Düz Ok Bağlayıcısı 29"/>
          <p:cNvCxnSpPr>
            <a:stCxn id="5" idx="3"/>
            <a:endCxn id="8" idx="1"/>
          </p:cNvCxnSpPr>
          <p:nvPr/>
        </p:nvCxnSpPr>
        <p:spPr>
          <a:xfrm>
            <a:off x="2990850" y="3305175"/>
            <a:ext cx="1819275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31" name="Düz Ok Bağlayıcısı 30"/>
          <p:cNvCxnSpPr>
            <a:stCxn id="8" idx="3"/>
            <a:endCxn id="11" idx="1"/>
          </p:cNvCxnSpPr>
          <p:nvPr/>
        </p:nvCxnSpPr>
        <p:spPr>
          <a:xfrm>
            <a:off x="7381875" y="3305175"/>
            <a:ext cx="1819275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6" name="Dikdörtgen 15">
            <a:extLst>
              <a:ext uri="{FF2B5EF4-FFF2-40B4-BE49-F238E27FC236}">
                <a16:creationId xmlns:a16="http://schemas.microsoft.com/office/drawing/2014/main" id="{1FBE4EF5-6609-4298-9B2A-BDACA6AC57F5}"/>
              </a:ext>
            </a:extLst>
          </p:cNvPr>
          <p:cNvSpPr>
            <a:spLocks noGrp="1"/>
          </p:cNvSpPr>
          <p:nvPr/>
        </p:nvSpPr>
        <p:spPr>
          <a:xfrm>
            <a:off x="762000" y="53911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348"/>
          </a:bodyPr>
          <a:lstStyle/>
          <a:p>
            <a:pPr algn="ctr">
              <a:defRPr sz="1800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Etki sorusu: Bu lot değişirse hangi batch, test, sevkiyat ve müşteri kararı yeniden değerlendirilir?</a:t>
            </a:r>
          </a:p>
        </p:txBody>
      </p:sp>
    </p:spTree>
    <p:extLst>
      <p:ext uri="{BB962C8B-B14F-4D97-AF65-F5344CB8AC3E}">
        <p14:creationId xmlns:p14="http://schemas.microsoft.com/office/powerpoint/2010/main" val="29731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7905A2D7-AE0C-4E16-A992-F39FD2E0DC2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A37C37BC-7815-4683-AF9D-95257B317A52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Yönetici ritmi sorunu görünürken yakalar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5F76DD54-7E60-42B3-9F23-520B4E1B5301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8B50E88C-6A79-4E1B-80F5-946134B24739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graphicFrame>
        <p:nvGraphicFramePr>
          <p:cNvPr id="12" name="Tablo 11"/>
          <p:cNvGraphicFramePr/>
          <p:nvPr/>
        </p:nvGraphicFramePr>
        <p:xfrm>
          <a:off x="400050" y="1524000"/>
          <a:ext cx="11391900" cy="3238501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Ritim</a:t>
                      </a:r>
                    </a:p>
                  </a:txBody>
                  <a:tcPr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Soracağın soru</a:t>
                      </a:r>
                    </a:p>
                  </a:txBody>
                  <a:tcPr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Çıktı</a:t>
                      </a:r>
                    </a:p>
                  </a:txBody>
                  <a:tcPr>
                    <a:solidFill>
                      <a:srgbClr val="D0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Olay öncesi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Ön koşul, ID ve yetkili rol hazır mı?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Inject release /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Günlük 15 dk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 tamamlandı, ne HOLD, hangi link kırık?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Daily control log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Vardiya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Hangi lot/batch ve statü devredildi?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Shift handover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Haftada iki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Hata downstream dossier'a doğru yayıldı mı?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Genealogy review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Modül sonu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Dossier kabul mü, reopen mı?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Module acceptance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Ay sonu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KPI/retrieval/audit/CAPA ne söylüyor?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YGG assurance pack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Dikdörtgen 5">
            <a:extLst>
              <a:ext uri="{FF2B5EF4-FFF2-40B4-BE49-F238E27FC236}">
                <a16:creationId xmlns:a16="http://schemas.microsoft.com/office/drawing/2014/main" id="{5AB4E733-CCEB-49FC-871D-19382D10C2A7}"/>
              </a:ext>
            </a:extLst>
          </p:cNvPr>
          <p:cNvSpPr>
            <a:spLocks noGrp="1"/>
          </p:cNvSpPr>
          <p:nvPr/>
        </p:nvSpPr>
        <p:spPr>
          <a:xfrm>
            <a:off x="704850" y="52387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33"/>
          </a:bodyPr>
          <a:lstStyle/>
          <a:p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Sayıdan önce kontrol kalitesini izle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45991A26-8ACF-403B-96CA-65FD7E396DBD}"/>
              </a:ext>
            </a:extLst>
          </p:cNvPr>
          <p:cNvSpPr>
            <a:spLocks noGrp="1"/>
          </p:cNvSpPr>
          <p:nvPr/>
        </p:nvSpPr>
        <p:spPr>
          <a:xfrm>
            <a:off x="6191250" y="5048250"/>
            <a:ext cx="4953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Yetkisiz karar</a:t>
            </a:r>
          </a:p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Broken genealogy</a:t>
            </a:r>
          </a:p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Prerequisite olmadan açılan kayıt</a:t>
            </a:r>
          </a:p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CAPA effectiveness reopen</a:t>
            </a:r>
          </a:p>
          <a:p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Retrieval FAIL</a:t>
            </a:r>
          </a:p>
        </p:txBody>
      </p:sp>
    </p:spTree>
    <p:extLst>
      <p:ext uri="{BB962C8B-B14F-4D97-AF65-F5344CB8AC3E}">
        <p14:creationId xmlns:p14="http://schemas.microsoft.com/office/powerpoint/2010/main" val="308383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ikdörtgen 17">
            <a:extLst>
              <a:ext uri="{FF2B5EF4-FFF2-40B4-BE49-F238E27FC236}">
                <a16:creationId xmlns:a16="http://schemas.microsoft.com/office/drawing/2014/main" id="{7A7B43C2-0BF6-450D-A5B7-438F6BC7ED5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B40C0B79-4ADD-4B3A-A48D-86339D2A6856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Eğitimin sonu katılım değil, gösterilmiş yetkinliktir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060751FB-BE19-403E-9508-C55144C4A3C2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9D36F046-905C-4ADA-8680-15B3DC2E127A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E1B1502D-85BF-4D23-A679-BF307305306E}"/>
              </a:ext>
            </a:extLst>
          </p:cNvPr>
          <p:cNvSpPr>
            <a:spLocks noGrp="1"/>
          </p:cNvSpPr>
          <p:nvPr/>
        </p:nvSpPr>
        <p:spPr>
          <a:xfrm>
            <a:off x="857250" y="4762500"/>
            <a:ext cx="5905500" cy="6858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BE127FF-E7B8-4053-941C-CE99A1D769C9}"/>
              </a:ext>
            </a:extLst>
          </p:cNvPr>
          <p:cNvSpPr>
            <a:spLocks noGrp="1"/>
          </p:cNvSpPr>
          <p:nvPr/>
        </p:nvSpPr>
        <p:spPr>
          <a:xfrm>
            <a:off x="1047750" y="48958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913"/>
          </a:bodyPr>
          <a:lstStyle/>
          <a:p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L1 | Navigator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B5D9B5B-C276-4BAB-991D-AF9114203982}"/>
              </a:ext>
            </a:extLst>
          </p:cNvPr>
          <p:cNvSpPr>
            <a:spLocks noGrp="1"/>
          </p:cNvSpPr>
          <p:nvPr/>
        </p:nvSpPr>
        <p:spPr>
          <a:xfrm>
            <a:off x="4095750" y="49339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5 formu &lt;3 dk'da bul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7359D6E2-11A5-474C-9AAC-6CC374693A08}"/>
              </a:ext>
            </a:extLst>
          </p:cNvPr>
          <p:cNvSpPr>
            <a:spLocks noGrp="1"/>
          </p:cNvSpPr>
          <p:nvPr/>
        </p:nvSpPr>
        <p:spPr>
          <a:xfrm>
            <a:off x="857250" y="3857625"/>
            <a:ext cx="7334250" cy="6858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395A330-E07F-4203-B1CD-B3F70D914CC1}"/>
              </a:ext>
            </a:extLst>
          </p:cNvPr>
          <p:cNvSpPr>
            <a:spLocks noGrp="1"/>
          </p:cNvSpPr>
          <p:nvPr/>
        </p:nvSpPr>
        <p:spPr>
          <a:xfrm>
            <a:off x="1047750" y="39909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913"/>
          </a:bodyPr>
          <a:lstStyle/>
          <a:p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L2 | Operator / Reviewer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ACEE873E-1261-43D0-B0E6-40D171E6F54A}"/>
              </a:ext>
            </a:extLst>
          </p:cNvPr>
          <p:cNvSpPr>
            <a:spLocks noGrp="1"/>
          </p:cNvSpPr>
          <p:nvPr/>
        </p:nvSpPr>
        <p:spPr>
          <a:xfrm>
            <a:off x="4095750" y="402907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Bir zinciri doğru kaydet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8E55044A-60F1-4ABA-AC57-C7A294163D20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8763000" cy="685800"/>
          </a:xfrm>
          <a:prstGeom prst="rect">
            <a:avLst/>
          </a:prstGeom>
          <a:solidFill>
            <a:srgbClr val="F5F6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8130C0F3-2E87-46C4-A735-02BF9BA88BBA}"/>
              </a:ext>
            </a:extLst>
          </p:cNvPr>
          <p:cNvSpPr>
            <a:spLocks noGrp="1"/>
          </p:cNvSpPr>
          <p:nvPr/>
        </p:nvSpPr>
        <p:spPr>
          <a:xfrm>
            <a:off x="1047750" y="3086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913"/>
          </a:bodyPr>
          <a:lstStyle/>
          <a:p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L3 | Manager / Challenger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D2E9ED7-67CF-4295-AE29-13F78459CD32}"/>
              </a:ext>
            </a:extLst>
          </p:cNvPr>
          <p:cNvSpPr>
            <a:spLocks noGrp="1"/>
          </p:cNvSpPr>
          <p:nvPr/>
        </p:nvSpPr>
        <p:spPr>
          <a:xfrm>
            <a:off x="4095750" y="3124200"/>
            <a:ext cx="542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Adverse inject'te doğru kararı üret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7B69463C-80A4-49AE-BF3B-48C5AC1EC11A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10191750" cy="685800"/>
          </a:xfrm>
          <a:prstGeom prst="rect">
            <a:avLst/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84C9D645-AE4A-4EF7-8FF3-1D4B01AA14D9}"/>
              </a:ext>
            </a:extLst>
          </p:cNvPr>
          <p:cNvSpPr>
            <a:spLocks noGrp="1"/>
          </p:cNvSpPr>
          <p:nvPr/>
        </p:nvSpPr>
        <p:spPr>
          <a:xfrm>
            <a:off x="1047750" y="21812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913"/>
          </a:bodyPr>
          <a:lstStyle/>
          <a:p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L4 | Trainer / Auditor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A9498150-1F15-4415-8CBD-5E4DBCD6B4D3}"/>
              </a:ext>
            </a:extLst>
          </p:cNvPr>
          <p:cNvSpPr>
            <a:spLocks noGrp="1"/>
          </p:cNvSpPr>
          <p:nvPr/>
        </p:nvSpPr>
        <p:spPr>
          <a:xfrm>
            <a:off x="4095750" y="2219325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Teach-back + &lt;10 dk retrieval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A2BE799D-2094-46E3-8231-08DEE08BBBDB}"/>
              </a:ext>
            </a:extLst>
          </p:cNvPr>
          <p:cNvSpPr>
            <a:spLocks noGrp="1"/>
          </p:cNvSpPr>
          <p:nvPr/>
        </p:nvSpPr>
        <p:spPr>
          <a:xfrm>
            <a:off x="1047750" y="5676900"/>
            <a:ext cx="1009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/>
          </a:bodyPr>
          <a:lstStyle/>
          <a:p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Anlat -&gt; göster -&gt; birlikte yap -&gt; kullanıcıya yaptır -&gt; zorla -&gt; geri anlattır</a:t>
            </a:r>
          </a:p>
        </p:txBody>
      </p:sp>
    </p:spTree>
    <p:extLst>
      <p:ext uri="{BB962C8B-B14F-4D97-AF65-F5344CB8AC3E}">
        <p14:creationId xmlns:p14="http://schemas.microsoft.com/office/powerpoint/2010/main" val="442786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5AEEA419-325E-4551-A635-BFCF53480325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6DEC0936-3126-4AD6-ABEA-B773471FD2BD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04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MCS zincirinde önce bu form ailelerini tanı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659171A0-58F2-4FB9-AD52-3B323AA2C173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6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89509EA8-FFB0-4C4A-8C20-975B227E1B9D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TRAINING AID - NOT AN IMS RECORD</a:t>
            </a:r>
          </a:p>
        </p:txBody>
      </p:sp>
      <p:graphicFrame>
        <p:nvGraphicFramePr>
          <p:cNvPr id="11" name="Tablo 10"/>
          <p:cNvGraphicFramePr/>
          <p:nvPr/>
        </p:nvGraphicFramePr>
        <p:xfrm>
          <a:off x="400050" y="1524000"/>
          <a:ext cx="11391900" cy="3638551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79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Aşama</a:t>
                      </a:r>
                    </a:p>
                  </a:txBody>
                  <a:tcPr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Temel kodlar</a:t>
                      </a:r>
                    </a:p>
                  </a:txBody>
                  <a:tcPr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Karar sahibi</a:t>
                      </a:r>
                    </a:p>
                  </a:txBody>
                  <a:tcPr>
                    <a:solidFill>
                      <a:srgbClr val="D0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/ 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SCM-MST-MAT-001; SUP-001…005; SCM-CHK-PO-001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SCM + Technical + QA/HSE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Receipt / lot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WHS-FRM-001; HSE-CHK-001; SMP-001; REL-005/002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Warehouse -&gt; QC -&gt; QA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WHS-FRM-004; PRD-CLR-001; BMR-001; IPC-001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Production + QC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QC / release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QC-TST-001; OOS-001; QA-BDR-001; QA-REL-001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QC review + QA Release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Dispatch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WHS-FRM-005; QA-REL-006; WHL-DSP-001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Logistics +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Exceptions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IMS-NCR-001; CAPA-001; MOC-001…006; RSK-002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QA/IMS + authorized authority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Dikdörtgen 5">
            <a:extLst>
              <a:ext uri="{FF2B5EF4-FFF2-40B4-BE49-F238E27FC236}">
                <a16:creationId xmlns:a16="http://schemas.microsoft.com/office/drawing/2014/main" id="{1A1CCC73-2099-42E0-BBAA-D4F3EAED4F77}"/>
              </a:ext>
            </a:extLst>
          </p:cNvPr>
          <p:cNvSpPr>
            <a:spLocks noGrp="1"/>
          </p:cNvSpPr>
          <p:nvPr/>
        </p:nvSpPr>
        <p:spPr>
          <a:xfrm>
            <a:off x="666750" y="5638800"/>
            <a:ext cx="1085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Her kod için Master R17'de owner, applicability, status, toolkit ve activation gate'i kontrol et.</a:t>
            </a:r>
          </a:p>
        </p:txBody>
      </p:sp>
    </p:spTree>
    <p:extLst>
      <p:ext uri="{BB962C8B-B14F-4D97-AF65-F5344CB8AC3E}">
        <p14:creationId xmlns:p14="http://schemas.microsoft.com/office/powerpoint/2010/main" val="1336272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kdörtgen 5">
            <a:extLst>
              <a:ext uri="{FF2B5EF4-FFF2-40B4-BE49-F238E27FC236}">
                <a16:creationId xmlns:a16="http://schemas.microsoft.com/office/drawing/2014/main" id="{C2021129-D50A-4023-8E8F-50E1C9DF2546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l">
              <a:defRPr sz="12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SARL MAPA IMS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CBB56635-6587-4E90-9297-17771C28DB75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8572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Yönetici</a:t>
            </a:r>
            <a:r>
              <a:rPr sz="4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435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standardı</a:t>
            </a:r>
            <a:r>
              <a:rPr lang="tr-TR" sz="435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mız</a:t>
            </a:r>
            <a:endParaRPr sz="43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345EC7C1-D9F8-4666-BC26-8778191E9DDB}"/>
              </a:ext>
            </a:extLst>
          </p:cNvPr>
          <p:cNvSpPr>
            <a:spLocks noGrp="1"/>
          </p:cNvSpPr>
          <p:nvPr/>
        </p:nvSpPr>
        <p:spPr>
          <a:xfrm>
            <a:off x="400050" y="2781300"/>
            <a:ext cx="8763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Her kaydın neden var olduğunu, kimin oluşturduğunu, kimin doğruladığını, hangi yetkiyle karara bağlandığını ve hangi kanıtla yeniden bulunacağını açıklayabilmek.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392884AE-527D-47BC-B8D4-F7C9CCDFBD3F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Sıradaki kontrollü uygulama: SIM-001.02 | Procure-to-Receive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E6063FCF-489A-4E5E-83E8-02CA4B380B99}"/>
              </a:ext>
            </a:extLst>
          </p:cNvPr>
          <p:cNvSpPr>
            <a:spLocks noGrp="1"/>
          </p:cNvSpPr>
          <p:nvPr/>
        </p:nvSpPr>
        <p:spPr>
          <a:xfrm>
            <a:off x="400050" y="58864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952"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Önce gate PASS. Sonra işlem. Sonra kanıt.</a:t>
            </a:r>
          </a:p>
        </p:txBody>
      </p:sp>
    </p:spTree>
    <p:extLst>
      <p:ext uri="{BB962C8B-B14F-4D97-AF65-F5344CB8AC3E}">
        <p14:creationId xmlns:p14="http://schemas.microsoft.com/office/powerpoint/2010/main" val="6062850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2629</Words>
  <Application>Microsoft Office PowerPoint</Application>
  <DocSecurity>0</DocSecurity>
  <PresentationFormat>Geniş ekran</PresentationFormat>
  <Paragraphs>538</Paragraphs>
  <Slides>21</Slides>
  <Notes>21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21</vt:i4>
      </vt:variant>
    </vt:vector>
  </HeadingPairs>
  <TitlesOfParts>
    <vt:vector size="24" baseType="lpstr">
      <vt:lpstr>Arial</vt:lpstr>
      <vt:lpstr>Calibri</vt:lpstr>
      <vt:lpstr>ChatGPT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Kerem Yılmaz</cp:lastModifiedBy>
  <cp:revision>1</cp:revision>
  <dcterms:created xsi:type="dcterms:W3CDTF">2026-08-05T08:20:24Z</dcterms:created>
  <dcterms:modified xsi:type="dcterms:W3CDTF">2026-08-05T10:19:49Z</dcterms:modified>
</cp:coreProperties>
</file>